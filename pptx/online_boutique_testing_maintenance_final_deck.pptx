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2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  <p:sldId id="282" r:id="rId27"/>
    <p:sldId id="283" r:id="rId28"/>
    <p:sldId id="284" r:id="rId29"/>
    <p:sldId id="285" r:id="rId30"/>
    <p:sldId id="286" r:id="rId31"/>
    <p:sldId id="287" r:id="rId32"/>
    <p:sldId id="288" r:id="rId33"/>
    <p:sldId id="289" r:id="rId34"/>
    <p:sldId id="290" r:id="rId35"/>
    <p:sldId id="291" r:id="rId36"/>
    <p:sldId id="292" r:id="rId37"/>
    <p:sldId id="293" r:id="rId38"/>
    <p:sldId id="294" r:id="rId39"/>
    <p:sldId id="295" r:id="rId40"/>
    <p:sldId id="296" r:id="rId41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88229" autoAdjust="0"/>
  </p:normalViewPr>
  <p:slideViewPr>
    <p:cSldViewPr snapToGrid="0" snapToObjects="1">
      <p:cViewPr varScale="1">
        <p:scale>
          <a:sx n="90" d="100"/>
          <a:sy n="90" d="100"/>
        </p:scale>
        <p:origin x="370" y="53"/>
      </p:cViewPr>
      <p:guideLst/>
    </p:cSldViewPr>
  </p:slideViewPr>
  <p:notesTextViewPr>
    <p:cViewPr>
      <p:scale>
        <a:sx n="1" d="1"/>
        <a:sy n="1" d="1"/>
      </p:scale>
      <p:origin x="0" y="-158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54021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架构说明：</a:t>
            </a:r>
            <a:r>
              <a:rPr lang="en-US" altLang="zh-CN" sz="1200" dirty="0" err="1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底部是</a:t>
            </a:r>
            <a:r>
              <a:rPr lang="en-US" altLang="zh-CN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  <a:r>
              <a:rPr lang="en-US" altLang="zh-CN" sz="1200" dirty="0" err="1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Minikube</a:t>
            </a:r>
            <a:r>
              <a:rPr lang="en-US" altLang="zh-CN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/ Kubernetes </a:t>
            </a:r>
            <a:r>
              <a:rPr lang="en-US" altLang="zh-CN" sz="1200" dirty="0" err="1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集群</a:t>
            </a:r>
            <a:endParaRPr lang="en-US" altLang="zh-CN" sz="1200" dirty="0"/>
          </a:p>
          <a:p>
            <a:r>
              <a:rPr lang="en-US" altLang="zh-CN" sz="1200" dirty="0" err="1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中间运行</a:t>
            </a:r>
            <a:r>
              <a:rPr lang="en-US" altLang="zh-CN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Online-Boutique </a:t>
            </a:r>
            <a:r>
              <a:rPr lang="en-US" altLang="zh-CN" sz="1200" dirty="0" err="1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和新增服务</a:t>
            </a:r>
            <a:endParaRPr lang="en-US" altLang="zh-CN" sz="1200" dirty="0"/>
          </a:p>
          <a:p>
            <a:r>
              <a:rPr lang="en-US" altLang="zh-CN" sz="1200" dirty="0" err="1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右侧接入监控、故障、测试与算法工具</a:t>
            </a:r>
            <a:endParaRPr lang="en-US" altLang="zh-CN" sz="1200" dirty="0"/>
          </a:p>
          <a:p>
            <a:r>
              <a:rPr lang="en-US" altLang="zh-CN" sz="1200" dirty="0" err="1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上层沉淀数据集与</a:t>
            </a:r>
            <a:r>
              <a:rPr lang="en-US" altLang="zh-CN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AIOps Agent</a:t>
            </a:r>
            <a:endParaRPr lang="en-US" altLang="zh-CN" sz="1200" dirty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1" dirty="0" err="1">
                <a:solidFill>
                  <a:srgbClr val="2F8F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调用链：Frontend</a:t>
            </a:r>
            <a:r>
              <a:rPr lang="en-US" altLang="zh-CN" sz="1200" b="1" dirty="0">
                <a:solidFill>
                  <a:srgbClr val="2F8F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→ Cart / Product / Checkout → Payment / Email</a:t>
            </a:r>
            <a:endParaRPr lang="en-US" altLang="zh-CN" sz="1200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20.png"/><Relationship Id="rId4" Type="http://schemas.openxmlformats.org/officeDocument/2006/relationships/image" Target="../media/image19.pn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5" Type="http://schemas.openxmlformats.org/officeDocument/2006/relationships/image" Target="../media/image28.png"/><Relationship Id="rId4" Type="http://schemas.openxmlformats.org/officeDocument/2006/relationships/image" Target="../media/image27.png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1.png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4.pn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42.png"/><Relationship Id="rId4" Type="http://schemas.openxmlformats.org/officeDocument/2006/relationships/image" Target="../media/image41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720" y="2181833"/>
            <a:ext cx="56692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Online-Boutique 微服务测试与维护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42804" y="2692568"/>
            <a:ext cx="5303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 · 扩展 · 监控 · 故障注入 · 测试 · 算法复现 · 智能运维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-778492" y="608184"/>
            <a:ext cx="8157230" cy="19220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000" dirty="0" err="1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软件测试与维护大作业</a:t>
            </a:r>
            <a:r>
              <a:rPr lang="zh-CN" altLang="en-US" sz="4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</a:t>
            </a:r>
            <a:r>
              <a:rPr lang="en-US" sz="4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 </a:t>
            </a:r>
          </a:p>
          <a:p>
            <a:pPr marL="0" indent="0" algn="ctr">
              <a:buNone/>
            </a:pPr>
            <a:r>
              <a:rPr lang="en-US" sz="40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		</a:t>
            </a:r>
            <a:endParaRPr lang="en-US" sz="4000" dirty="0"/>
          </a:p>
        </p:txBody>
      </p:sp>
      <p:sp>
        <p:nvSpPr>
          <p:cNvPr id="5" name="Shape 3"/>
          <p:cNvSpPr/>
          <p:nvPr/>
        </p:nvSpPr>
        <p:spPr>
          <a:xfrm>
            <a:off x="6537959" y="777240"/>
            <a:ext cx="5005363" cy="501396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" name="Shape 4"/>
          <p:cNvSpPr/>
          <p:nvPr/>
        </p:nvSpPr>
        <p:spPr>
          <a:xfrm>
            <a:off x="6766559" y="1005840"/>
            <a:ext cx="4604825" cy="2926842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/mnt/data/report_assets/p06_img02_1672x9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59" y="1197824"/>
            <a:ext cx="4504178" cy="2534947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6865267" y="4373587"/>
            <a:ext cx="1406652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6"/>
          <p:cNvSpPr/>
          <p:nvPr/>
        </p:nvSpPr>
        <p:spPr>
          <a:xfrm>
            <a:off x="6974995" y="4510747"/>
            <a:ext cx="110642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5EC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0" name="Text 7"/>
          <p:cNvSpPr/>
          <p:nvPr/>
        </p:nvSpPr>
        <p:spPr>
          <a:xfrm>
            <a:off x="6974995" y="4995379"/>
            <a:ext cx="1106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新增业务微服务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9945273" y="4373587"/>
            <a:ext cx="1265584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pPr algn="ctr"/>
            <a:endParaRPr lang="zh-CN" altLang="en-US" dirty="0"/>
          </a:p>
        </p:txBody>
      </p:sp>
      <p:sp>
        <p:nvSpPr>
          <p:cNvPr id="12" name="Text 9"/>
          <p:cNvSpPr/>
          <p:nvPr/>
        </p:nvSpPr>
        <p:spPr>
          <a:xfrm>
            <a:off x="10123581" y="4478743"/>
            <a:ext cx="108727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2200" dirty="0"/>
          </a:p>
        </p:txBody>
      </p:sp>
      <p:sp>
        <p:nvSpPr>
          <p:cNvPr id="13" name="Text 10"/>
          <p:cNvSpPr/>
          <p:nvPr/>
        </p:nvSpPr>
        <p:spPr>
          <a:xfrm>
            <a:off x="10085128" y="5011381"/>
            <a:ext cx="108727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智能运维加分项</a:t>
            </a:r>
            <a:endParaRPr lang="en-US" sz="950" dirty="0"/>
          </a:p>
        </p:txBody>
      </p:sp>
      <p:sp>
        <p:nvSpPr>
          <p:cNvPr id="14" name="Shape 11"/>
          <p:cNvSpPr/>
          <p:nvPr/>
        </p:nvSpPr>
        <p:spPr>
          <a:xfrm>
            <a:off x="8628536" y="4373587"/>
            <a:ext cx="96012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 dirty="0"/>
          </a:p>
        </p:txBody>
      </p:sp>
      <p:sp>
        <p:nvSpPr>
          <p:cNvPr id="15" name="Text 12"/>
          <p:cNvSpPr/>
          <p:nvPr/>
        </p:nvSpPr>
        <p:spPr>
          <a:xfrm>
            <a:off x="8738264" y="4510747"/>
            <a:ext cx="740664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2200" dirty="0"/>
          </a:p>
        </p:txBody>
      </p:sp>
      <p:sp>
        <p:nvSpPr>
          <p:cNvPr id="16" name="Text 13"/>
          <p:cNvSpPr/>
          <p:nvPr/>
        </p:nvSpPr>
        <p:spPr>
          <a:xfrm>
            <a:off x="8738264" y="4995379"/>
            <a:ext cx="7406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zh-CN" alt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</a:rPr>
              <a:t>论文复现</a:t>
            </a:r>
            <a:endParaRPr lang="en-US" sz="950" dirty="0"/>
          </a:p>
        </p:txBody>
      </p:sp>
      <p:sp>
        <p:nvSpPr>
          <p:cNvPr id="17" name="Shape 14"/>
          <p:cNvSpPr/>
          <p:nvPr/>
        </p:nvSpPr>
        <p:spPr>
          <a:xfrm>
            <a:off x="597726" y="3962662"/>
            <a:ext cx="5583616" cy="1507650"/>
          </a:xfrm>
          <a:prstGeom prst="roundRect">
            <a:avLst>
              <a:gd name="adj" fmla="val 28571"/>
            </a:avLst>
          </a:prstGeom>
          <a:solidFill>
            <a:srgbClr val="EAF8F4"/>
          </a:solidFill>
          <a:ln w="12700">
            <a:solidFill>
              <a:srgbClr val="1F6F6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18" name="Text 15"/>
          <p:cNvSpPr/>
          <p:nvPr/>
        </p:nvSpPr>
        <p:spPr>
          <a:xfrm>
            <a:off x="1570892" y="3626827"/>
            <a:ext cx="4839050" cy="223485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zh-CN" altLang="en-US" sz="20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组名：第几小组</a:t>
            </a:r>
            <a:endParaRPr lang="en-US" altLang="zh-CN" sz="2000" b="1" dirty="0">
              <a:solidFill>
                <a:srgbClr val="1F6F67"/>
              </a:solidFill>
              <a:latin typeface="Microsoft YaHei" pitchFamily="34" charset="0"/>
              <a:ea typeface="Microsoft YaHei" pitchFamily="34" charset="-122"/>
              <a:cs typeface="Microsoft YaHei" pitchFamily="34" charset="-120"/>
            </a:endParaRPr>
          </a:p>
          <a:p>
            <a:r>
              <a:rPr lang="zh-CN" altLang="en-US" sz="20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</a:rPr>
              <a:t>成员：王秀强</a:t>
            </a:r>
            <a:r>
              <a:rPr lang="en-US" altLang="zh-CN" sz="20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</a:rPr>
              <a:t>  </a:t>
            </a:r>
            <a:r>
              <a:rPr lang="zh-CN" altLang="en-US" sz="20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</a:rPr>
              <a:t>邱俊杰 韦厚林 </a:t>
            </a:r>
            <a:endParaRPr lang="en-US" altLang="zh-CN" sz="2000" b="1" dirty="0">
              <a:solidFill>
                <a:srgbClr val="1F6F67"/>
              </a:solidFill>
              <a:latin typeface="Microsoft YaHei" pitchFamily="34" charset="0"/>
              <a:ea typeface="Microsoft YaHei" pitchFamily="34" charset="-122"/>
            </a:endParaRPr>
          </a:p>
          <a:p>
            <a:r>
              <a:rPr lang="en-US" altLang="zh-CN" sz="20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</a:rPr>
              <a:t>          </a:t>
            </a:r>
            <a:r>
              <a:rPr lang="zh-CN" altLang="en-US" sz="20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</a:rPr>
              <a:t>任泓旭 邓锦尧 段坤良</a:t>
            </a:r>
            <a:endParaRPr lang="en-US" sz="2000" dirty="0"/>
          </a:p>
        </p:txBody>
      </p:sp>
      <p:sp>
        <p:nvSpPr>
          <p:cNvPr id="19" name="Text 16"/>
          <p:cNvSpPr/>
          <p:nvPr/>
        </p:nvSpPr>
        <p:spPr>
          <a:xfrm>
            <a:off x="713232" y="6108192"/>
            <a:ext cx="740664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项目仓库：github.com/Affordan/online-boutique-testing-maintenance</a:t>
            </a:r>
            <a:endParaRPr lang="en-US" sz="900" dirty="0"/>
          </a:p>
        </p:txBody>
      </p:sp>
      <p:sp>
        <p:nvSpPr>
          <p:cNvPr id="20" name="Text 17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Overview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汇报主线</a:t>
            </a:r>
            <a:endParaRPr lang="en-US" sz="2300" dirty="0"/>
          </a:p>
        </p:txBody>
      </p:sp>
      <p:sp>
        <p:nvSpPr>
          <p:cNvPr id="6" name="Shape 4"/>
          <p:cNvSpPr/>
          <p:nvPr/>
        </p:nvSpPr>
        <p:spPr>
          <a:xfrm>
            <a:off x="594360" y="1444752"/>
            <a:ext cx="1227582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667512" y="1517904"/>
            <a:ext cx="1081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选型部署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1840230" y="1801368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1986534" y="1444752"/>
            <a:ext cx="1227582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059686" y="1517904"/>
            <a:ext cx="1081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业务扩展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232404" y="1801368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3378708" y="1444752"/>
            <a:ext cx="1227582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3451860" y="1517904"/>
            <a:ext cx="1081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监控采集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4624578" y="1801368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4770882" y="1444752"/>
            <a:ext cx="1227582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844034" y="1517904"/>
            <a:ext cx="1081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故障注入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6016752" y="1801368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6163056" y="1444752"/>
            <a:ext cx="1227582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6236208" y="1517904"/>
            <a:ext cx="1081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功能/性能测试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7408926" y="1801368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7555230" y="1444752"/>
            <a:ext cx="1227582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7628382" y="1517904"/>
            <a:ext cx="1081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数据集整理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801100" y="1801368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8947404" y="1444752"/>
            <a:ext cx="1227582" cy="713232"/>
          </a:xfrm>
          <a:prstGeom prst="roundRect">
            <a:avLst>
              <a:gd name="adj" fmla="val 15385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020556" y="1517904"/>
            <a:ext cx="1081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算法复现</a:t>
            </a:r>
            <a:endParaRPr lang="en-US" sz="1050" dirty="0"/>
          </a:p>
        </p:txBody>
      </p:sp>
      <p:sp>
        <p:nvSpPr>
          <p:cNvPr id="26" name="Shape 24"/>
          <p:cNvSpPr/>
          <p:nvPr/>
        </p:nvSpPr>
        <p:spPr>
          <a:xfrm>
            <a:off x="10193274" y="1801368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Shape 25"/>
          <p:cNvSpPr/>
          <p:nvPr/>
        </p:nvSpPr>
        <p:spPr>
          <a:xfrm>
            <a:off x="10339578" y="1444752"/>
            <a:ext cx="1227582" cy="713232"/>
          </a:xfrm>
          <a:prstGeom prst="roundRect">
            <a:avLst>
              <a:gd name="adj" fmla="val 15385"/>
            </a:avLst>
          </a:prstGeom>
          <a:solidFill>
            <a:srgbClr val="EAF8F4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0412730" y="1517904"/>
            <a:ext cx="108127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诊断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85800" y="2487168"/>
            <a:ext cx="50749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86968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系统侧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514600" y="2596896"/>
            <a:ext cx="2788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Online-Boutique 在 Minikube 中运行，并新增优惠券、库存服务。</a:t>
            </a:r>
            <a:endParaRPr lang="en-US" sz="1150" dirty="0"/>
          </a:p>
        </p:txBody>
      </p:sp>
      <p:sp>
        <p:nvSpPr>
          <p:cNvPr id="32" name="Shape 30"/>
          <p:cNvSpPr/>
          <p:nvPr/>
        </p:nvSpPr>
        <p:spPr>
          <a:xfrm>
            <a:off x="6217920" y="2487168"/>
            <a:ext cx="50749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6419088" y="26700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测试侧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8046720" y="2596896"/>
            <a:ext cx="2788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Selenium 负责主业务链，JMeter 负责接口与并发负载。</a:t>
            </a:r>
            <a:endParaRPr lang="en-US" sz="1150" dirty="0"/>
          </a:p>
        </p:txBody>
      </p:sp>
      <p:sp>
        <p:nvSpPr>
          <p:cNvPr id="35" name="Shape 33"/>
          <p:cNvSpPr/>
          <p:nvPr/>
        </p:nvSpPr>
        <p:spPr>
          <a:xfrm>
            <a:off x="685800" y="3904488"/>
            <a:ext cx="50749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886968" y="40873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运维侧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2514600" y="4014216"/>
            <a:ext cx="2788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Prometheus/Grafana 采集指标，ChaosMesh 制造可标注异常。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6217920" y="3904488"/>
            <a:ext cx="5074920" cy="1051560"/>
          </a:xfrm>
          <a:prstGeom prst="roundRect">
            <a:avLst>
              <a:gd name="adj" fmla="val 10435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419088" y="408736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智能侧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8046720" y="4014216"/>
            <a:ext cx="2788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DA-VAE 检测异常，KPIRoot 定位根因，Agent 生成报告。</a:t>
            </a:r>
            <a:endParaRPr lang="en-US" sz="1150" dirty="0"/>
          </a:p>
        </p:txBody>
      </p:sp>
      <p:sp>
        <p:nvSpPr>
          <p:cNvPr id="41" name="Text 39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Requirement Mapping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课程要求覆盖情况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项目按照复杂微服务系统 + 新增微服务 + 加分项组织展示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10835640" cy="4297680"/>
          </a:xfrm>
          <a:prstGeom prst="roundRect">
            <a:avLst>
              <a:gd name="adj" fmla="val 2553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914400" y="1600200"/>
            <a:ext cx="2286000" cy="477774"/>
          </a:xfrm>
          <a:prstGeom prst="rect">
            <a:avLst/>
          </a:prstGeom>
          <a:solidFill>
            <a:srgbClr val="5EC7A1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60120" y="1645920"/>
            <a:ext cx="219456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要求项</a:t>
            </a:r>
            <a:endParaRPr lang="en-US" sz="1130" dirty="0"/>
          </a:p>
        </p:txBody>
      </p:sp>
      <p:sp>
        <p:nvSpPr>
          <p:cNvPr id="9" name="Shape 7"/>
          <p:cNvSpPr/>
          <p:nvPr/>
        </p:nvSpPr>
        <p:spPr>
          <a:xfrm>
            <a:off x="3200400" y="1600200"/>
            <a:ext cx="6217920" cy="477774"/>
          </a:xfrm>
          <a:prstGeom prst="rect">
            <a:avLst/>
          </a:prstGeom>
          <a:solidFill>
            <a:srgbClr val="5EC7A1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246120" y="1645920"/>
            <a:ext cx="612648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本项目完成内容</a:t>
            </a:r>
            <a:endParaRPr lang="en-US" sz="1130" dirty="0"/>
          </a:p>
        </p:txBody>
      </p:sp>
      <p:sp>
        <p:nvSpPr>
          <p:cNvPr id="11" name="Shape 9"/>
          <p:cNvSpPr/>
          <p:nvPr/>
        </p:nvSpPr>
        <p:spPr>
          <a:xfrm>
            <a:off x="9418320" y="1600200"/>
            <a:ext cx="1371600" cy="477774"/>
          </a:xfrm>
          <a:prstGeom prst="rect">
            <a:avLst/>
          </a:prstGeom>
          <a:solidFill>
            <a:srgbClr val="5EC7A1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9464040" y="1645920"/>
            <a:ext cx="128016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3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状态</a:t>
            </a:r>
            <a:endParaRPr lang="en-US" sz="1130" dirty="0"/>
          </a:p>
        </p:txBody>
      </p:sp>
      <p:sp>
        <p:nvSpPr>
          <p:cNvPr id="13" name="Shape 11"/>
          <p:cNvSpPr/>
          <p:nvPr/>
        </p:nvSpPr>
        <p:spPr>
          <a:xfrm>
            <a:off x="914400" y="2077974"/>
            <a:ext cx="2286000" cy="477774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60120" y="2123694"/>
            <a:ext cx="219456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复杂微服务系统</a:t>
            </a:r>
            <a:endParaRPr lang="en-US" sz="1020" dirty="0"/>
          </a:p>
        </p:txBody>
      </p:sp>
      <p:sp>
        <p:nvSpPr>
          <p:cNvPr id="15" name="Shape 13"/>
          <p:cNvSpPr/>
          <p:nvPr/>
        </p:nvSpPr>
        <p:spPr>
          <a:xfrm>
            <a:off x="3200400" y="2077974"/>
            <a:ext cx="6217920" cy="477774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3246120" y="2123694"/>
            <a:ext cx="612648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Online-Boutique 本地 Kubernetes 部署</a:t>
            </a:r>
            <a:endParaRPr lang="en-US" sz="1020" dirty="0"/>
          </a:p>
        </p:txBody>
      </p:sp>
      <p:sp>
        <p:nvSpPr>
          <p:cNvPr id="17" name="Shape 15"/>
          <p:cNvSpPr/>
          <p:nvPr/>
        </p:nvSpPr>
        <p:spPr>
          <a:xfrm>
            <a:off x="9418320" y="2077974"/>
            <a:ext cx="1371600" cy="477774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464040" y="2123694"/>
            <a:ext cx="128016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020" dirty="0"/>
          </a:p>
        </p:txBody>
      </p:sp>
      <p:sp>
        <p:nvSpPr>
          <p:cNvPr id="19" name="Shape 17"/>
          <p:cNvSpPr/>
          <p:nvPr/>
        </p:nvSpPr>
        <p:spPr>
          <a:xfrm>
            <a:off x="914400" y="2555748"/>
            <a:ext cx="2286000" cy="477774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60120" y="2601468"/>
            <a:ext cx="219456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新增微服务</a:t>
            </a:r>
            <a:endParaRPr lang="en-US" sz="1020" dirty="0"/>
          </a:p>
        </p:txBody>
      </p:sp>
      <p:sp>
        <p:nvSpPr>
          <p:cNvPr id="21" name="Shape 19"/>
          <p:cNvSpPr/>
          <p:nvPr/>
        </p:nvSpPr>
        <p:spPr>
          <a:xfrm>
            <a:off x="3200400" y="2555748"/>
            <a:ext cx="6217920" cy="477774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3246120" y="2601468"/>
            <a:ext cx="612648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coupon-service、inventory-service</a:t>
            </a:r>
            <a:endParaRPr lang="en-US" sz="1020" dirty="0"/>
          </a:p>
        </p:txBody>
      </p:sp>
      <p:sp>
        <p:nvSpPr>
          <p:cNvPr id="23" name="Shape 21"/>
          <p:cNvSpPr/>
          <p:nvPr/>
        </p:nvSpPr>
        <p:spPr>
          <a:xfrm>
            <a:off x="9418320" y="2555748"/>
            <a:ext cx="1371600" cy="477774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9464040" y="2601468"/>
            <a:ext cx="128016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020" dirty="0"/>
          </a:p>
        </p:txBody>
      </p:sp>
      <p:sp>
        <p:nvSpPr>
          <p:cNvPr id="25" name="Shape 23"/>
          <p:cNvSpPr/>
          <p:nvPr/>
        </p:nvSpPr>
        <p:spPr>
          <a:xfrm>
            <a:off x="914400" y="3033522"/>
            <a:ext cx="2286000" cy="477774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960120" y="3079242"/>
            <a:ext cx="219456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监控与维护</a:t>
            </a:r>
            <a:endParaRPr lang="en-US" sz="1020" dirty="0"/>
          </a:p>
        </p:txBody>
      </p:sp>
      <p:sp>
        <p:nvSpPr>
          <p:cNvPr id="27" name="Shape 25"/>
          <p:cNvSpPr/>
          <p:nvPr/>
        </p:nvSpPr>
        <p:spPr>
          <a:xfrm>
            <a:off x="3200400" y="3033522"/>
            <a:ext cx="6217920" cy="477774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3246120" y="3079242"/>
            <a:ext cx="612648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 + Grafana 指标采集与看板</a:t>
            </a:r>
            <a:endParaRPr lang="en-US" sz="1020" dirty="0"/>
          </a:p>
        </p:txBody>
      </p:sp>
      <p:sp>
        <p:nvSpPr>
          <p:cNvPr id="29" name="Shape 27"/>
          <p:cNvSpPr/>
          <p:nvPr/>
        </p:nvSpPr>
        <p:spPr>
          <a:xfrm>
            <a:off x="9418320" y="3033522"/>
            <a:ext cx="1371600" cy="477774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9464040" y="3079242"/>
            <a:ext cx="128016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020" dirty="0"/>
          </a:p>
        </p:txBody>
      </p:sp>
      <p:sp>
        <p:nvSpPr>
          <p:cNvPr id="31" name="Shape 29"/>
          <p:cNvSpPr/>
          <p:nvPr/>
        </p:nvSpPr>
        <p:spPr>
          <a:xfrm>
            <a:off x="914400" y="3511296"/>
            <a:ext cx="2286000" cy="477774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960120" y="3557016"/>
            <a:ext cx="219456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故障注入</a:t>
            </a:r>
            <a:endParaRPr lang="en-US" sz="1020" dirty="0"/>
          </a:p>
        </p:txBody>
      </p:sp>
      <p:sp>
        <p:nvSpPr>
          <p:cNvPr id="33" name="Shape 31"/>
          <p:cNvSpPr/>
          <p:nvPr/>
        </p:nvSpPr>
        <p:spPr>
          <a:xfrm>
            <a:off x="3200400" y="3511296"/>
            <a:ext cx="6217920" cy="477774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3246120" y="3557016"/>
            <a:ext cx="612648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Kill、CPU/内存压力、网络延迟/丢包</a:t>
            </a:r>
            <a:endParaRPr lang="en-US" sz="1020" dirty="0"/>
          </a:p>
        </p:txBody>
      </p:sp>
      <p:sp>
        <p:nvSpPr>
          <p:cNvPr id="35" name="Shape 33"/>
          <p:cNvSpPr/>
          <p:nvPr/>
        </p:nvSpPr>
        <p:spPr>
          <a:xfrm>
            <a:off x="9418320" y="3511296"/>
            <a:ext cx="1371600" cy="477774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9464040" y="3557016"/>
            <a:ext cx="128016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020" dirty="0"/>
          </a:p>
        </p:txBody>
      </p:sp>
      <p:sp>
        <p:nvSpPr>
          <p:cNvPr id="37" name="Shape 35"/>
          <p:cNvSpPr/>
          <p:nvPr/>
        </p:nvSpPr>
        <p:spPr>
          <a:xfrm>
            <a:off x="914400" y="3989070"/>
            <a:ext cx="2286000" cy="477774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960120" y="4034790"/>
            <a:ext cx="219456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功能与性能测试</a:t>
            </a:r>
            <a:endParaRPr lang="en-US" sz="1020" dirty="0"/>
          </a:p>
        </p:txBody>
      </p:sp>
      <p:sp>
        <p:nvSpPr>
          <p:cNvPr id="39" name="Shape 37"/>
          <p:cNvSpPr/>
          <p:nvPr/>
        </p:nvSpPr>
        <p:spPr>
          <a:xfrm>
            <a:off x="3200400" y="3989070"/>
            <a:ext cx="6217920" cy="477774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3246120" y="4034790"/>
            <a:ext cx="612648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Selenium 主链路；JMeter 四档并发</a:t>
            </a:r>
            <a:endParaRPr lang="en-US" sz="1020" dirty="0"/>
          </a:p>
        </p:txBody>
      </p:sp>
      <p:sp>
        <p:nvSpPr>
          <p:cNvPr id="41" name="Shape 39"/>
          <p:cNvSpPr/>
          <p:nvPr/>
        </p:nvSpPr>
        <p:spPr>
          <a:xfrm>
            <a:off x="9418320" y="3989070"/>
            <a:ext cx="1371600" cy="477774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9464040" y="4034790"/>
            <a:ext cx="128016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020" dirty="0"/>
          </a:p>
        </p:txBody>
      </p:sp>
      <p:sp>
        <p:nvSpPr>
          <p:cNvPr id="43" name="Shape 41"/>
          <p:cNvSpPr/>
          <p:nvPr/>
        </p:nvSpPr>
        <p:spPr>
          <a:xfrm>
            <a:off x="914400" y="4466844"/>
            <a:ext cx="2286000" cy="477774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960120" y="4512564"/>
            <a:ext cx="219456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算法复现</a:t>
            </a:r>
            <a:endParaRPr lang="en-US" sz="1020" dirty="0"/>
          </a:p>
        </p:txBody>
      </p:sp>
      <p:sp>
        <p:nvSpPr>
          <p:cNvPr id="45" name="Shape 43"/>
          <p:cNvSpPr/>
          <p:nvPr/>
        </p:nvSpPr>
        <p:spPr>
          <a:xfrm>
            <a:off x="3200400" y="4466844"/>
            <a:ext cx="6217920" cy="477774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3246120" y="4512564"/>
            <a:ext cx="612648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DA-VAE 异常检测；KPIRoot 根因定位</a:t>
            </a:r>
            <a:endParaRPr lang="en-US" sz="1020" dirty="0"/>
          </a:p>
        </p:txBody>
      </p:sp>
      <p:sp>
        <p:nvSpPr>
          <p:cNvPr id="47" name="Shape 45"/>
          <p:cNvSpPr/>
          <p:nvPr/>
        </p:nvSpPr>
        <p:spPr>
          <a:xfrm>
            <a:off x="9418320" y="4466844"/>
            <a:ext cx="1371600" cy="477774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9464040" y="4512564"/>
            <a:ext cx="128016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020" dirty="0"/>
          </a:p>
        </p:txBody>
      </p:sp>
      <p:sp>
        <p:nvSpPr>
          <p:cNvPr id="49" name="Shape 47"/>
          <p:cNvSpPr/>
          <p:nvPr/>
        </p:nvSpPr>
        <p:spPr>
          <a:xfrm>
            <a:off x="914400" y="4944618"/>
            <a:ext cx="2286000" cy="477774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960120" y="4990338"/>
            <a:ext cx="219456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智能运维加分</a:t>
            </a:r>
            <a:endParaRPr lang="en-US" sz="1020" dirty="0"/>
          </a:p>
        </p:txBody>
      </p:sp>
      <p:sp>
        <p:nvSpPr>
          <p:cNvPr id="51" name="Shape 49"/>
          <p:cNvSpPr/>
          <p:nvPr/>
        </p:nvSpPr>
        <p:spPr>
          <a:xfrm>
            <a:off x="3200400" y="4944618"/>
            <a:ext cx="6217920" cy="477774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3246120" y="4990338"/>
            <a:ext cx="612648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AIOps Agent 诊断报告与闭环建议</a:t>
            </a:r>
            <a:endParaRPr lang="en-US" sz="1020" dirty="0"/>
          </a:p>
        </p:txBody>
      </p:sp>
      <p:sp>
        <p:nvSpPr>
          <p:cNvPr id="53" name="Shape 51"/>
          <p:cNvSpPr/>
          <p:nvPr/>
        </p:nvSpPr>
        <p:spPr>
          <a:xfrm>
            <a:off x="9418320" y="4944618"/>
            <a:ext cx="1371600" cy="477774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9464040" y="4990338"/>
            <a:ext cx="1280160" cy="38633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020" dirty="0"/>
          </a:p>
        </p:txBody>
      </p:sp>
      <p:sp>
        <p:nvSpPr>
          <p:cNvPr id="55" name="Shape 53"/>
          <p:cNvSpPr/>
          <p:nvPr/>
        </p:nvSpPr>
        <p:spPr>
          <a:xfrm>
            <a:off x="841248" y="5989320"/>
            <a:ext cx="3154680" cy="256032"/>
          </a:xfrm>
          <a:prstGeom prst="roundRect">
            <a:avLst>
              <a:gd name="adj" fmla="val 28571"/>
            </a:avLst>
          </a:prstGeom>
          <a:solidFill>
            <a:srgbClr val="EAF8F4"/>
          </a:solidFill>
          <a:ln w="12700">
            <a:solidFill>
              <a:srgbClr val="1F6F6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914400" y="6039612"/>
            <a:ext cx="300837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第三档验收：复杂项目 + 2 个微服务开发</a:t>
            </a:r>
            <a:endParaRPr lang="en-US" sz="820" dirty="0"/>
          </a:p>
        </p:txBody>
      </p:sp>
      <p:sp>
        <p:nvSpPr>
          <p:cNvPr id="57" name="Text 55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Architecture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业务链路与总体架构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983012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 Online-Boutique 为核心，将测试维护工具接入同一实验环境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530352" y="1353312"/>
            <a:ext cx="10831915" cy="4919471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/mnt/data/report_assets/p06_img02_1672x9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10268" y="1403604"/>
            <a:ext cx="8261724" cy="464969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901952" y="6011945"/>
            <a:ext cx="78638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 err="1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总体架构图</a:t>
            </a:r>
            <a:endParaRPr lang="en-US" sz="780" dirty="0"/>
          </a:p>
        </p:txBody>
      </p:sp>
      <p:sp>
        <p:nvSpPr>
          <p:cNvPr id="11" name="Text 8"/>
          <p:cNvSpPr/>
          <p:nvPr/>
        </p:nvSpPr>
        <p:spPr>
          <a:xfrm>
            <a:off x="9235440" y="1965960"/>
            <a:ext cx="196596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9217152" y="5317236"/>
            <a:ext cx="202996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endParaRPr lang="en-US" sz="820" dirty="0"/>
          </a:p>
        </p:txBody>
      </p:sp>
      <p:sp>
        <p:nvSpPr>
          <p:cNvPr id="14" name="Text 11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Environment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技术组成与实验环境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本地化 Kubernetes 环境，降低云账号、权限和网络条件的不确定性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1353312" cy="256032"/>
          </a:xfrm>
          <a:prstGeom prst="roundRect">
            <a:avLst>
              <a:gd name="adj" fmla="val 28571"/>
            </a:avLst>
          </a:prstGeom>
          <a:solidFill>
            <a:srgbClr val="EAF8F4"/>
          </a:solidFill>
          <a:ln w="12700">
            <a:solidFill>
              <a:srgbClr val="5EC7A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58952" y="1467612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5EC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Docker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2478024" y="1417320"/>
            <a:ext cx="1353312" cy="256032"/>
          </a:xfrm>
          <a:prstGeom prst="roundRect">
            <a:avLst>
              <a:gd name="adj" fmla="val 28571"/>
            </a:avLst>
          </a:prstGeom>
          <a:solidFill>
            <a:srgbClr val="EAF8F4"/>
          </a:solidFill>
          <a:ln w="12700">
            <a:solidFill>
              <a:srgbClr val="5EC7A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2551176" y="1467612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5EC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Minikube</a:t>
            </a:r>
            <a:endParaRPr lang="en-US" sz="820" dirty="0"/>
          </a:p>
        </p:txBody>
      </p:sp>
      <p:sp>
        <p:nvSpPr>
          <p:cNvPr id="10" name="Shape 8"/>
          <p:cNvSpPr/>
          <p:nvPr/>
        </p:nvSpPr>
        <p:spPr>
          <a:xfrm>
            <a:off x="4270248" y="1417320"/>
            <a:ext cx="1353312" cy="256032"/>
          </a:xfrm>
          <a:prstGeom prst="roundRect">
            <a:avLst>
              <a:gd name="adj" fmla="val 28571"/>
            </a:avLst>
          </a:prstGeom>
          <a:solidFill>
            <a:srgbClr val="EAF8F4"/>
          </a:solidFill>
          <a:ln w="12700">
            <a:solidFill>
              <a:srgbClr val="5EC7A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343400" y="1467612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5EC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kubectl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6062472" y="1417320"/>
            <a:ext cx="1353312" cy="256032"/>
          </a:xfrm>
          <a:prstGeom prst="roundRect">
            <a:avLst>
              <a:gd name="adj" fmla="val 28571"/>
            </a:avLst>
          </a:prstGeom>
          <a:solidFill>
            <a:srgbClr val="EAF8F4"/>
          </a:solidFill>
          <a:ln w="12700">
            <a:solidFill>
              <a:srgbClr val="5EC7A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135624" y="1467612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5EC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Helm</a:t>
            </a:r>
            <a:endParaRPr lang="en-US" sz="820" dirty="0"/>
          </a:p>
        </p:txBody>
      </p:sp>
      <p:sp>
        <p:nvSpPr>
          <p:cNvPr id="14" name="Shape 12"/>
          <p:cNvSpPr/>
          <p:nvPr/>
        </p:nvSpPr>
        <p:spPr>
          <a:xfrm>
            <a:off x="7854696" y="1417320"/>
            <a:ext cx="1353312" cy="256032"/>
          </a:xfrm>
          <a:prstGeom prst="roundRect">
            <a:avLst>
              <a:gd name="adj" fmla="val 28571"/>
            </a:avLst>
          </a:prstGeom>
          <a:solidFill>
            <a:srgbClr val="EAF8F4"/>
          </a:solidFill>
          <a:ln w="12700">
            <a:solidFill>
              <a:srgbClr val="1F6F6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7927848" y="1467612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9646920" y="1417320"/>
            <a:ext cx="1353312" cy="256032"/>
          </a:xfrm>
          <a:prstGeom prst="roundRect">
            <a:avLst>
              <a:gd name="adj" fmla="val 28571"/>
            </a:avLst>
          </a:prstGeom>
          <a:solidFill>
            <a:srgbClr val="EAF8F4"/>
          </a:solidFill>
          <a:ln w="12700">
            <a:solidFill>
              <a:srgbClr val="1F6F6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9720072" y="1467612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685800" y="1947672"/>
            <a:ext cx="1353312" cy="256032"/>
          </a:xfrm>
          <a:prstGeom prst="roundRect">
            <a:avLst>
              <a:gd name="adj" fmla="val 28571"/>
            </a:avLst>
          </a:prstGeom>
          <a:solidFill>
            <a:srgbClr val="EAF8F4"/>
          </a:solidFill>
          <a:ln w="12700">
            <a:solidFill>
              <a:srgbClr val="1F6F6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758952" y="1997964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Grafana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2478024" y="1947672"/>
            <a:ext cx="1353312" cy="256032"/>
          </a:xfrm>
          <a:prstGeom prst="roundRect">
            <a:avLst>
              <a:gd name="adj" fmla="val 28571"/>
            </a:avLst>
          </a:prstGeom>
          <a:solidFill>
            <a:srgbClr val="EAF8F4"/>
          </a:solidFill>
          <a:ln w="12700">
            <a:solidFill>
              <a:srgbClr val="1F6F6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2551176" y="1997964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ChaosMesh</a:t>
            </a:r>
            <a:endParaRPr lang="en-US" sz="820" dirty="0"/>
          </a:p>
        </p:txBody>
      </p:sp>
      <p:sp>
        <p:nvSpPr>
          <p:cNvPr id="22" name="Shape 20"/>
          <p:cNvSpPr/>
          <p:nvPr/>
        </p:nvSpPr>
        <p:spPr>
          <a:xfrm>
            <a:off x="4270248" y="1947672"/>
            <a:ext cx="1353312" cy="256032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4343400" y="1997964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Selenium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062472" y="1947672"/>
            <a:ext cx="1353312" cy="256032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6135624" y="1997964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JMeter</a:t>
            </a:r>
            <a:endParaRPr lang="en-US" sz="820" dirty="0"/>
          </a:p>
        </p:txBody>
      </p:sp>
      <p:sp>
        <p:nvSpPr>
          <p:cNvPr id="26" name="Shape 24"/>
          <p:cNvSpPr/>
          <p:nvPr/>
        </p:nvSpPr>
        <p:spPr>
          <a:xfrm>
            <a:off x="7854696" y="1947672"/>
            <a:ext cx="1353312" cy="256032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7927848" y="1997964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Python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9646920" y="1947672"/>
            <a:ext cx="1353312" cy="256032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9720072" y="1997964"/>
            <a:ext cx="1207008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PowerShell</a:t>
            </a:r>
            <a:endParaRPr lang="en-US" sz="820" dirty="0"/>
          </a:p>
        </p:txBody>
      </p:sp>
      <p:sp>
        <p:nvSpPr>
          <p:cNvPr id="30" name="Shape 28"/>
          <p:cNvSpPr/>
          <p:nvPr/>
        </p:nvSpPr>
        <p:spPr>
          <a:xfrm>
            <a:off x="731520" y="2788920"/>
            <a:ext cx="5120640" cy="1600200"/>
          </a:xfrm>
          <a:prstGeom prst="roundRect">
            <a:avLst>
              <a:gd name="adj" fmla="val 6857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31" name="Image 0" descr="/mnt/data/report_assets/p09_img02_1182x30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626" y="2898648"/>
            <a:ext cx="4092428" cy="1069848"/>
          </a:xfrm>
          <a:prstGeom prst="rect">
            <a:avLst/>
          </a:prstGeom>
        </p:spPr>
      </p:pic>
      <p:sp>
        <p:nvSpPr>
          <p:cNvPr id="32" name="Text 29"/>
          <p:cNvSpPr/>
          <p:nvPr/>
        </p:nvSpPr>
        <p:spPr>
          <a:xfrm>
            <a:off x="868680" y="4133088"/>
            <a:ext cx="4846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工具版本检查</a:t>
            </a:r>
            <a:endParaRPr lang="en-US" sz="780" dirty="0"/>
          </a:p>
        </p:txBody>
      </p:sp>
      <p:sp>
        <p:nvSpPr>
          <p:cNvPr id="33" name="Shape 30"/>
          <p:cNvSpPr/>
          <p:nvPr/>
        </p:nvSpPr>
        <p:spPr>
          <a:xfrm>
            <a:off x="6080760" y="2514600"/>
            <a:ext cx="5285232" cy="2148840"/>
          </a:xfrm>
          <a:prstGeom prst="roundRect">
            <a:avLst>
              <a:gd name="adj" fmla="val 5106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1"/>
          <p:cNvSpPr/>
          <p:nvPr/>
        </p:nvSpPr>
        <p:spPr>
          <a:xfrm>
            <a:off x="6355080" y="2770632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统一运行约定</a:t>
            </a:r>
            <a:endParaRPr lang="en-US" sz="1400" dirty="0"/>
          </a:p>
        </p:txBody>
      </p:sp>
      <p:sp>
        <p:nvSpPr>
          <p:cNvPr id="35" name="Text 32"/>
          <p:cNvSpPr/>
          <p:nvPr/>
        </p:nvSpPr>
        <p:spPr>
          <a:xfrm>
            <a:off x="6400800" y="3154680"/>
            <a:ext cx="1371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Profile</a:t>
            </a:r>
            <a:endParaRPr lang="en-US" sz="950" dirty="0"/>
          </a:p>
        </p:txBody>
      </p:sp>
      <p:sp>
        <p:nvSpPr>
          <p:cNvPr id="36" name="Text 33"/>
          <p:cNvSpPr/>
          <p:nvPr/>
        </p:nvSpPr>
        <p:spPr>
          <a:xfrm>
            <a:off x="8001000" y="3154680"/>
            <a:ext cx="21945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online-boutique-lab</a:t>
            </a:r>
            <a:endParaRPr lang="en-US" sz="920" dirty="0"/>
          </a:p>
        </p:txBody>
      </p:sp>
      <p:sp>
        <p:nvSpPr>
          <p:cNvPr id="37" name="Text 34"/>
          <p:cNvSpPr/>
          <p:nvPr/>
        </p:nvSpPr>
        <p:spPr>
          <a:xfrm>
            <a:off x="6400800" y="3429000"/>
            <a:ext cx="1371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Namespace</a:t>
            </a:r>
            <a:endParaRPr lang="en-US" sz="950" dirty="0"/>
          </a:p>
        </p:txBody>
      </p:sp>
      <p:sp>
        <p:nvSpPr>
          <p:cNvPr id="38" name="Text 35"/>
          <p:cNvSpPr/>
          <p:nvPr/>
        </p:nvSpPr>
        <p:spPr>
          <a:xfrm>
            <a:off x="8001000" y="3429000"/>
            <a:ext cx="21945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online-boutique</a:t>
            </a:r>
            <a:endParaRPr lang="en-US" sz="920" dirty="0"/>
          </a:p>
        </p:txBody>
      </p:sp>
      <p:sp>
        <p:nvSpPr>
          <p:cNvPr id="39" name="Text 36"/>
          <p:cNvSpPr/>
          <p:nvPr/>
        </p:nvSpPr>
        <p:spPr>
          <a:xfrm>
            <a:off x="6400800" y="3703320"/>
            <a:ext cx="1371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Frontend</a:t>
            </a:r>
            <a:endParaRPr lang="en-US" sz="950" dirty="0"/>
          </a:p>
        </p:txBody>
      </p:sp>
      <p:sp>
        <p:nvSpPr>
          <p:cNvPr id="40" name="Text 37"/>
          <p:cNvSpPr/>
          <p:nvPr/>
        </p:nvSpPr>
        <p:spPr>
          <a:xfrm>
            <a:off x="8001000" y="3703320"/>
            <a:ext cx="21945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localhost:8080</a:t>
            </a:r>
            <a:endParaRPr lang="en-US" sz="920" dirty="0"/>
          </a:p>
        </p:txBody>
      </p:sp>
      <p:sp>
        <p:nvSpPr>
          <p:cNvPr id="41" name="Text 38"/>
          <p:cNvSpPr/>
          <p:nvPr/>
        </p:nvSpPr>
        <p:spPr>
          <a:xfrm>
            <a:off x="6400800" y="3977640"/>
            <a:ext cx="1371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</a:t>
            </a:r>
            <a:endParaRPr lang="en-US" sz="950" dirty="0"/>
          </a:p>
        </p:txBody>
      </p:sp>
      <p:sp>
        <p:nvSpPr>
          <p:cNvPr id="42" name="Text 39"/>
          <p:cNvSpPr/>
          <p:nvPr/>
        </p:nvSpPr>
        <p:spPr>
          <a:xfrm>
            <a:off x="8001000" y="3977640"/>
            <a:ext cx="21945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localhost:9090</a:t>
            </a:r>
            <a:endParaRPr lang="en-US" sz="920" dirty="0"/>
          </a:p>
        </p:txBody>
      </p:sp>
      <p:sp>
        <p:nvSpPr>
          <p:cNvPr id="43" name="Text 40"/>
          <p:cNvSpPr/>
          <p:nvPr/>
        </p:nvSpPr>
        <p:spPr>
          <a:xfrm>
            <a:off x="6400800" y="4251960"/>
            <a:ext cx="137160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Grafana</a:t>
            </a:r>
            <a:endParaRPr lang="en-US" sz="950" dirty="0"/>
          </a:p>
        </p:txBody>
      </p:sp>
      <p:sp>
        <p:nvSpPr>
          <p:cNvPr id="44" name="Text 41"/>
          <p:cNvSpPr/>
          <p:nvPr/>
        </p:nvSpPr>
        <p:spPr>
          <a:xfrm>
            <a:off x="8001000" y="4251960"/>
            <a:ext cx="2194560" cy="1645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localhost:3000</a:t>
            </a:r>
            <a:endParaRPr lang="en-US" sz="920" dirty="0"/>
          </a:p>
        </p:txBody>
      </p:sp>
      <p:sp>
        <p:nvSpPr>
          <p:cNvPr id="45" name="Text 42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Repository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仓库结构与协作约定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目录按实验模块组织，便于各成员独立提交与最终整合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5029200" cy="4343400"/>
          </a:xfrm>
          <a:prstGeom prst="roundRect">
            <a:avLst>
              <a:gd name="adj" fmla="val 2526"/>
            </a:avLst>
          </a:prstGeom>
          <a:solidFill>
            <a:srgbClr val="F8FBFA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87552" y="1627632"/>
            <a:ext cx="4617720" cy="374904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93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online-boutique-testing-maintenance/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docs/                 实验文档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scripts/              部署与验证脚本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deploy/online-boutique/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services/             新增微服务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├─ coupon-service/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│  └─ inventory-service/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monitoring/           监控配置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chaos/                故障配置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tests/selenium,jmeter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data/                 指标数据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algorithms/           算法复现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├─ agent/                智能运维</a:t>
            </a:r>
            <a:endParaRPr lang="en-US" sz="930" dirty="0"/>
          </a:p>
          <a:p>
            <a:pPr marL="0" indent="0">
              <a:buNone/>
            </a:pPr>
            <a:r>
              <a:rPr lang="en-US" sz="930" dirty="0">
                <a:solidFill>
                  <a:srgbClr val="3341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└─ results/              输出结果</a:t>
            </a:r>
            <a:endParaRPr lang="en-US" sz="930" dirty="0"/>
          </a:p>
        </p:txBody>
      </p:sp>
      <p:sp>
        <p:nvSpPr>
          <p:cNvPr id="8" name="Shape 6"/>
          <p:cNvSpPr/>
          <p:nvPr/>
        </p:nvSpPr>
        <p:spPr>
          <a:xfrm>
            <a:off x="6172200" y="1371600"/>
            <a:ext cx="489204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6400800" y="1517904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脚本化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909560" y="1481328"/>
            <a:ext cx="2880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PowerShell 脚本统一部署、验证、清理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6172200" y="2359152"/>
            <a:ext cx="489204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6400800" y="2505456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模块边界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7909560" y="2468880"/>
            <a:ext cx="2880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服务、监控、故障、测试、算法分目录沉淀</a:t>
            </a:r>
            <a:endParaRPr lang="en-US" sz="1080" dirty="0"/>
          </a:p>
        </p:txBody>
      </p:sp>
      <p:sp>
        <p:nvSpPr>
          <p:cNvPr id="14" name="Shape 12"/>
          <p:cNvSpPr/>
          <p:nvPr/>
        </p:nvSpPr>
        <p:spPr>
          <a:xfrm>
            <a:off x="6172200" y="3346704"/>
            <a:ext cx="489204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400800" y="3493008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结果留存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7909560" y="3456432"/>
            <a:ext cx="2880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截图、CSV、YAML、代码和报告均进入仓库</a:t>
            </a:r>
            <a:endParaRPr lang="en-US" sz="1080" dirty="0"/>
          </a:p>
        </p:txBody>
      </p:sp>
      <p:sp>
        <p:nvSpPr>
          <p:cNvPr id="17" name="Shape 15"/>
          <p:cNvSpPr/>
          <p:nvPr/>
        </p:nvSpPr>
        <p:spPr>
          <a:xfrm>
            <a:off x="6172200" y="4334256"/>
            <a:ext cx="4892040" cy="786384"/>
          </a:xfrm>
          <a:prstGeom prst="roundRect">
            <a:avLst>
              <a:gd name="adj" fmla="val 13953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400800" y="4480560"/>
            <a:ext cx="12801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可复现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909560" y="4443984"/>
            <a:ext cx="2880360" cy="25603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从部署到 Agent 均保留执行命令</a:t>
            </a:r>
            <a:endParaRPr lang="en-US" sz="1080" dirty="0"/>
          </a:p>
        </p:txBody>
      </p:sp>
      <p:sp>
        <p:nvSpPr>
          <p:cNvPr id="20" name="Text 18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 Work Sheet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小组分工工作表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按照模块边界组织任务，避免工作重叠并保证每个模块有可验收产出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1083564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914400" y="1600200"/>
            <a:ext cx="1097280" cy="561703"/>
          </a:xfrm>
          <a:prstGeom prst="rect">
            <a:avLst/>
          </a:prstGeom>
          <a:solidFill>
            <a:srgbClr val="5EC7A1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60120" y="1645920"/>
            <a:ext cx="100584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成员</a:t>
            </a:r>
            <a:endParaRPr lang="en-US" sz="1080" dirty="0"/>
          </a:p>
        </p:txBody>
      </p:sp>
      <p:sp>
        <p:nvSpPr>
          <p:cNvPr id="9" name="Shape 7"/>
          <p:cNvSpPr/>
          <p:nvPr/>
        </p:nvSpPr>
        <p:spPr>
          <a:xfrm>
            <a:off x="2011680" y="1600200"/>
            <a:ext cx="2331720" cy="561703"/>
          </a:xfrm>
          <a:prstGeom prst="rect">
            <a:avLst/>
          </a:prstGeom>
          <a:solidFill>
            <a:srgbClr val="5EC7A1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057400" y="1645920"/>
            <a:ext cx="224028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负责模块</a:t>
            </a:r>
            <a:endParaRPr lang="en-US" sz="1080" dirty="0"/>
          </a:p>
        </p:txBody>
      </p:sp>
      <p:sp>
        <p:nvSpPr>
          <p:cNvPr id="11" name="Shape 9"/>
          <p:cNvSpPr/>
          <p:nvPr/>
        </p:nvSpPr>
        <p:spPr>
          <a:xfrm>
            <a:off x="4343400" y="1600200"/>
            <a:ext cx="6812280" cy="561703"/>
          </a:xfrm>
          <a:prstGeom prst="rect">
            <a:avLst/>
          </a:prstGeom>
          <a:solidFill>
            <a:srgbClr val="5EC7A1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389120" y="1645920"/>
            <a:ext cx="672084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10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核心工作</a:t>
            </a:r>
            <a:endParaRPr lang="en-US" sz="1080" dirty="0"/>
          </a:p>
        </p:txBody>
      </p:sp>
      <p:sp>
        <p:nvSpPr>
          <p:cNvPr id="13" name="Shape 11"/>
          <p:cNvSpPr/>
          <p:nvPr/>
        </p:nvSpPr>
        <p:spPr>
          <a:xfrm>
            <a:off x="914400" y="2161903"/>
            <a:ext cx="1097280" cy="561703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60120" y="2207623"/>
            <a:ext cx="100584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王秀强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2011680" y="2161903"/>
            <a:ext cx="2331720" cy="561703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2057400" y="2207623"/>
            <a:ext cx="224028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 主部署/总集成/Agent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4343400" y="2161903"/>
            <a:ext cx="6812280" cy="561703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389120" y="2207623"/>
            <a:ext cx="672084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仓库维护、部署脚本、总体架构、报告 PPT 统稿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914400" y="2723606"/>
            <a:ext cx="1097280" cy="561703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60120" y="2769326"/>
            <a:ext cx="100584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邓锦尧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2011680" y="2723606"/>
            <a:ext cx="2331720" cy="561703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2057400" y="2769326"/>
            <a:ext cx="224028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 新增微服务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4343400" y="2723606"/>
            <a:ext cx="6812280" cy="561703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389120" y="2769326"/>
            <a:ext cx="672084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coupon-service、inventory-service、Dockerfile、K8s YAML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914400" y="3285309"/>
            <a:ext cx="1097280" cy="561703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960120" y="3331029"/>
            <a:ext cx="100584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邱俊杰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2011680" y="3285309"/>
            <a:ext cx="2331720" cy="561703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2057400" y="3331029"/>
            <a:ext cx="224028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 监控数据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4343400" y="3285309"/>
            <a:ext cx="6812280" cy="561703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389120" y="3331029"/>
            <a:ext cx="672084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Prometheus/Grafana、PromQL、CSV 数据采集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914400" y="3847011"/>
            <a:ext cx="1097280" cy="561703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960120" y="3892731"/>
            <a:ext cx="100584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段坤良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2011680" y="3847011"/>
            <a:ext cx="2331720" cy="561703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2057400" y="3892731"/>
            <a:ext cx="224028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 ChaosMesh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4343400" y="3847011"/>
            <a:ext cx="6812280" cy="561703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4389120" y="3892731"/>
            <a:ext cx="672084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Kill、CPU/内存压力、网络故障、fault 标注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914400" y="4408714"/>
            <a:ext cx="1097280" cy="561703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960120" y="4454434"/>
            <a:ext cx="100584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韦厚林</a:t>
            </a:r>
            <a:endParaRPr lang="en-US" sz="940" dirty="0"/>
          </a:p>
        </p:txBody>
      </p:sp>
      <p:sp>
        <p:nvSpPr>
          <p:cNvPr id="39" name="Shape 37"/>
          <p:cNvSpPr/>
          <p:nvPr/>
        </p:nvSpPr>
        <p:spPr>
          <a:xfrm>
            <a:off x="2011680" y="4408714"/>
            <a:ext cx="2331720" cy="561703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2057400" y="4454434"/>
            <a:ext cx="224028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 测试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4343400" y="4408714"/>
            <a:ext cx="6812280" cy="561703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4389120" y="4454434"/>
            <a:ext cx="672084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Selenium 主链路、JMeter 10/30/50/100 并发</a:t>
            </a:r>
            <a:endParaRPr lang="en-US" sz="940" dirty="0"/>
          </a:p>
        </p:txBody>
      </p:sp>
      <p:sp>
        <p:nvSpPr>
          <p:cNvPr id="43" name="Shape 41"/>
          <p:cNvSpPr/>
          <p:nvPr/>
        </p:nvSpPr>
        <p:spPr>
          <a:xfrm>
            <a:off x="914400" y="4970417"/>
            <a:ext cx="1097280" cy="561703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960120" y="5016137"/>
            <a:ext cx="100584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任泓旭</a:t>
            </a:r>
            <a:endParaRPr lang="en-US" sz="940" dirty="0"/>
          </a:p>
        </p:txBody>
      </p:sp>
      <p:sp>
        <p:nvSpPr>
          <p:cNvPr id="45" name="Shape 43"/>
          <p:cNvSpPr/>
          <p:nvPr/>
        </p:nvSpPr>
        <p:spPr>
          <a:xfrm>
            <a:off x="2011680" y="4970417"/>
            <a:ext cx="2331720" cy="561703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2057400" y="5016137"/>
            <a:ext cx="224028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 算法</a:t>
            </a:r>
            <a:endParaRPr lang="en-US" sz="940" dirty="0"/>
          </a:p>
        </p:txBody>
      </p:sp>
      <p:sp>
        <p:nvSpPr>
          <p:cNvPr id="47" name="Shape 45"/>
          <p:cNvSpPr/>
          <p:nvPr/>
        </p:nvSpPr>
        <p:spPr>
          <a:xfrm>
            <a:off x="4343400" y="4970417"/>
            <a:ext cx="6812280" cy="561703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4389120" y="5016137"/>
            <a:ext cx="6720840" cy="470263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DA-VAE 异常检测、KPIRoot 根因定位</a:t>
            </a:r>
            <a:endParaRPr lang="en-US" sz="940" dirty="0"/>
          </a:p>
        </p:txBody>
      </p:sp>
      <p:sp>
        <p:nvSpPr>
          <p:cNvPr id="49" name="Text 47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Deliverables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提交材料与仓库交付物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展示材料、源代码、配置文件、数据和结果均可追溯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94944" y="1417320"/>
            <a:ext cx="2395728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59536" y="16184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报告 PDF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859536" y="1984248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report/ 或 pdf/</a:t>
            </a:r>
            <a:endParaRPr lang="en-US" sz="920" dirty="0"/>
          </a:p>
        </p:txBody>
      </p:sp>
      <p:sp>
        <p:nvSpPr>
          <p:cNvPr id="9" name="Text 7"/>
          <p:cNvSpPr/>
          <p:nvPr/>
        </p:nvSpPr>
        <p:spPr>
          <a:xfrm>
            <a:off x="859536" y="2304288"/>
            <a:ext cx="1965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完整实验报告与图表</a:t>
            </a:r>
            <a:endParaRPr lang="en-US" sz="1020" dirty="0"/>
          </a:p>
        </p:txBody>
      </p:sp>
      <p:sp>
        <p:nvSpPr>
          <p:cNvPr id="10" name="Shape 8"/>
          <p:cNvSpPr/>
          <p:nvPr/>
        </p:nvSpPr>
        <p:spPr>
          <a:xfrm>
            <a:off x="3465576" y="1417320"/>
            <a:ext cx="2395728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3630168" y="16184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展示 PPT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630168" y="1984248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pptx/ 或 slides/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3630168" y="2304288"/>
            <a:ext cx="1965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答辩使用</a:t>
            </a:r>
            <a:endParaRPr lang="en-US" sz="1020" dirty="0"/>
          </a:p>
        </p:txBody>
      </p:sp>
      <p:sp>
        <p:nvSpPr>
          <p:cNvPr id="14" name="Shape 12"/>
          <p:cNvSpPr/>
          <p:nvPr/>
        </p:nvSpPr>
        <p:spPr>
          <a:xfrm>
            <a:off x="6236208" y="1417320"/>
            <a:ext cx="2395728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3"/>
          <p:cNvSpPr/>
          <p:nvPr/>
        </p:nvSpPr>
        <p:spPr>
          <a:xfrm>
            <a:off x="6400800" y="16184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部署脚本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6400800" y="1984248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scripts/、deploy/</a:t>
            </a:r>
            <a:endParaRPr lang="en-US" sz="920" dirty="0"/>
          </a:p>
        </p:txBody>
      </p:sp>
      <p:sp>
        <p:nvSpPr>
          <p:cNvPr id="17" name="Text 15"/>
          <p:cNvSpPr/>
          <p:nvPr/>
        </p:nvSpPr>
        <p:spPr>
          <a:xfrm>
            <a:off x="6400800" y="2304288"/>
            <a:ext cx="1965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环境检查、部署、端口转发</a:t>
            </a:r>
            <a:endParaRPr lang="en-US" sz="1020" dirty="0"/>
          </a:p>
        </p:txBody>
      </p:sp>
      <p:sp>
        <p:nvSpPr>
          <p:cNvPr id="18" name="Shape 16"/>
          <p:cNvSpPr/>
          <p:nvPr/>
        </p:nvSpPr>
        <p:spPr>
          <a:xfrm>
            <a:off x="9006840" y="1417320"/>
            <a:ext cx="2395728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171432" y="161848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新增服务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9171432" y="1984248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services/</a:t>
            </a:r>
            <a:endParaRPr lang="en-US" sz="920" dirty="0"/>
          </a:p>
        </p:txBody>
      </p:sp>
      <p:sp>
        <p:nvSpPr>
          <p:cNvPr id="21" name="Text 19"/>
          <p:cNvSpPr/>
          <p:nvPr/>
        </p:nvSpPr>
        <p:spPr>
          <a:xfrm>
            <a:off x="9171432" y="2304288"/>
            <a:ext cx="1965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源码、Dockerfile、YAML</a:t>
            </a:r>
            <a:endParaRPr lang="en-US" sz="1020" dirty="0"/>
          </a:p>
        </p:txBody>
      </p:sp>
      <p:sp>
        <p:nvSpPr>
          <p:cNvPr id="22" name="Shape 20"/>
          <p:cNvSpPr/>
          <p:nvPr/>
        </p:nvSpPr>
        <p:spPr>
          <a:xfrm>
            <a:off x="694944" y="3383280"/>
            <a:ext cx="2395728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859536" y="35844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监控/故障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859536" y="3950208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monitoring/、chaos/</a:t>
            </a:r>
            <a:endParaRPr lang="en-US" sz="920" dirty="0"/>
          </a:p>
        </p:txBody>
      </p:sp>
      <p:sp>
        <p:nvSpPr>
          <p:cNvPr id="25" name="Text 23"/>
          <p:cNvSpPr/>
          <p:nvPr/>
        </p:nvSpPr>
        <p:spPr>
          <a:xfrm>
            <a:off x="859536" y="4270248"/>
            <a:ext cx="1965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PromQL、Dashboard、故障配置</a:t>
            </a:r>
            <a:endParaRPr lang="en-US" sz="1020" dirty="0"/>
          </a:p>
        </p:txBody>
      </p:sp>
      <p:sp>
        <p:nvSpPr>
          <p:cNvPr id="26" name="Shape 24"/>
          <p:cNvSpPr/>
          <p:nvPr/>
        </p:nvSpPr>
        <p:spPr>
          <a:xfrm>
            <a:off x="3465576" y="3383280"/>
            <a:ext cx="2395728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3630168" y="35844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测试材料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3630168" y="3950208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tests/、results/testing/</a:t>
            </a:r>
            <a:endParaRPr lang="en-US" sz="920" dirty="0"/>
          </a:p>
        </p:txBody>
      </p:sp>
      <p:sp>
        <p:nvSpPr>
          <p:cNvPr id="29" name="Text 27"/>
          <p:cNvSpPr/>
          <p:nvPr/>
        </p:nvSpPr>
        <p:spPr>
          <a:xfrm>
            <a:off x="3630168" y="4270248"/>
            <a:ext cx="1965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Selenium、JMeter、CSV</a:t>
            </a:r>
            <a:endParaRPr lang="en-US" sz="1020" dirty="0"/>
          </a:p>
        </p:txBody>
      </p:sp>
      <p:sp>
        <p:nvSpPr>
          <p:cNvPr id="30" name="Shape 28"/>
          <p:cNvSpPr/>
          <p:nvPr/>
        </p:nvSpPr>
        <p:spPr>
          <a:xfrm>
            <a:off x="6236208" y="3383280"/>
            <a:ext cx="2395728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400800" y="35844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数据与算法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6400800" y="3950208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data/、algorithms/</a:t>
            </a:r>
            <a:endParaRPr lang="en-US" sz="920" dirty="0"/>
          </a:p>
        </p:txBody>
      </p:sp>
      <p:sp>
        <p:nvSpPr>
          <p:cNvPr id="33" name="Text 31"/>
          <p:cNvSpPr/>
          <p:nvPr/>
        </p:nvSpPr>
        <p:spPr>
          <a:xfrm>
            <a:off x="6400800" y="4270248"/>
            <a:ext cx="1965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标注数据、DA-VAE、KPIRoot</a:t>
            </a:r>
            <a:endParaRPr lang="en-US" sz="1020" dirty="0"/>
          </a:p>
        </p:txBody>
      </p:sp>
      <p:sp>
        <p:nvSpPr>
          <p:cNvPr id="34" name="Shape 32"/>
          <p:cNvSpPr/>
          <p:nvPr/>
        </p:nvSpPr>
        <p:spPr>
          <a:xfrm>
            <a:off x="9006840" y="3383280"/>
            <a:ext cx="2395728" cy="1481328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9171432" y="358444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9171432" y="3950208"/>
            <a:ext cx="2011680" cy="2011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agent/、results/agent/</a:t>
            </a:r>
            <a:endParaRPr lang="en-US" sz="920" dirty="0"/>
          </a:p>
        </p:txBody>
      </p:sp>
      <p:sp>
        <p:nvSpPr>
          <p:cNvPr id="37" name="Text 35"/>
          <p:cNvSpPr/>
          <p:nvPr/>
        </p:nvSpPr>
        <p:spPr>
          <a:xfrm>
            <a:off x="9171432" y="4270248"/>
            <a:ext cx="1965960" cy="320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诊断报告和配置</a:t>
            </a:r>
            <a:endParaRPr lang="en-US" sz="1020" dirty="0"/>
          </a:p>
        </p:txBody>
      </p:sp>
      <p:sp>
        <p:nvSpPr>
          <p:cNvPr id="38" name="Text 36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Deployment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主系统部署：让 Online-Boutique 可运行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部署目标是 Pod Running、Service 正常、前端业务页面可访问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85800" y="1417320"/>
            <a:ext cx="16611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58952" y="1490472"/>
            <a:ext cx="1514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检查环境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65248" y="1737360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2511552" y="1417320"/>
            <a:ext cx="16611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584704" y="1490472"/>
            <a:ext cx="1514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清理旧环境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91000" y="1737360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337304" y="1417320"/>
            <a:ext cx="16611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410456" y="1490472"/>
            <a:ext cx="1514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启动 Minikube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16752" y="1737360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163056" y="1417320"/>
            <a:ext cx="16611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236208" y="1490472"/>
            <a:ext cx="1514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 manifests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842504" y="1737360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7988808" y="1417320"/>
            <a:ext cx="16611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061960" y="1490472"/>
            <a:ext cx="1514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等待 Pod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68256" y="1737360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9814560" y="1417320"/>
            <a:ext cx="1661160" cy="640080"/>
          </a:xfrm>
          <a:prstGeom prst="roundRect">
            <a:avLst>
              <a:gd name="adj" fmla="val 17143"/>
            </a:avLst>
          </a:prstGeom>
          <a:solidFill>
            <a:srgbClr val="EAF8F4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9887712" y="1490472"/>
            <a:ext cx="1514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端口转发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7240" y="2395728"/>
            <a:ext cx="5120640" cy="2651760"/>
          </a:xfrm>
          <a:prstGeom prst="roundRect">
            <a:avLst>
              <a:gd name="adj" fmla="val 4138"/>
            </a:avLst>
          </a:prstGeom>
          <a:solidFill>
            <a:srgbClr val="0F172A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005840" y="2697480"/>
            <a:ext cx="4663440" cy="19659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.\scripts\check_env.ps1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.\scripts\clean_old_environment.ps1 -DeleteProjectProfile -StopOldProfile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.\scripts\run_fresh_deploy.ps1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.\scripts\wait_online_boutique.ps1</a:t>
            </a:r>
            <a:endParaRPr lang="en-US" sz="1200" dirty="0"/>
          </a:p>
          <a:p>
            <a:pPr marL="0" indent="0">
              <a:buNone/>
            </a:pPr>
            <a:r>
              <a:rPr lang="en-US" sz="12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.\scripts\port_forward_frontend.ps1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6217920" y="2395728"/>
            <a:ext cx="4983480" cy="2651760"/>
          </a:xfrm>
          <a:prstGeom prst="roundRect">
            <a:avLst>
              <a:gd name="adj" fmla="val 4138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492240" y="265176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验收信号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6446520" y="3063240"/>
            <a:ext cx="4343400" cy="15087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Minikube 节点 Ready</a:t>
            </a:r>
            <a:endParaRPr lang="en-US" sz="1120" dirty="0"/>
          </a:p>
          <a:p>
            <a:r>
              <a:rPr lang="en-US" sz="11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online-boutique namespace 存在</a:t>
            </a:r>
            <a:endParaRPr lang="en-US" sz="1120" dirty="0"/>
          </a:p>
          <a:p>
            <a:r>
              <a:rPr lang="en-US" sz="11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核心服务 Pod Running</a:t>
            </a:r>
            <a:endParaRPr lang="en-US" sz="1120" dirty="0"/>
          </a:p>
          <a:p>
            <a:r>
              <a:rPr lang="en-US" sz="11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浏览器访问 localhost:8080</a:t>
            </a:r>
            <a:endParaRPr lang="en-US" sz="1120" dirty="0"/>
          </a:p>
          <a:p>
            <a:r>
              <a:rPr lang="en-US" sz="11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商品浏览、购物车、结账页面可用</a:t>
            </a:r>
            <a:endParaRPr lang="en-US" sz="1120" dirty="0"/>
          </a:p>
        </p:txBody>
      </p:sp>
      <p:sp>
        <p:nvSpPr>
          <p:cNvPr id="28" name="Text 26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Deployment Evidence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主系统部署验证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节点、Pod、Service 和业务页面均有截图材料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85800" y="1298448"/>
            <a:ext cx="530352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/mnt/data/report_assets/p13_img02_1163x5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2083" y="1408176"/>
            <a:ext cx="3150955" cy="13898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962656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Minikube 节点状态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263640" y="1298448"/>
            <a:ext cx="525780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1" descr="/mnt/data/report_assets/p14_img02_1170x52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52607" y="1408176"/>
            <a:ext cx="3079865" cy="13898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0" y="2962656"/>
            <a:ext cx="4983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 Pod 运行状态</a:t>
            </a:r>
            <a:endParaRPr lang="en-US" sz="780" dirty="0"/>
          </a:p>
        </p:txBody>
      </p:sp>
      <p:sp>
        <p:nvSpPr>
          <p:cNvPr id="12" name="Shape 8"/>
          <p:cNvSpPr/>
          <p:nvPr/>
        </p:nvSpPr>
        <p:spPr>
          <a:xfrm>
            <a:off x="685800" y="3566160"/>
            <a:ext cx="53035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2" descr="/mnt/data/report_assets/p15_img02_1920x1080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58264" y="3675888"/>
            <a:ext cx="2958592" cy="16642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" y="5504688"/>
            <a:ext cx="50292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前端首页访问</a:t>
            </a:r>
            <a:endParaRPr lang="en-US" sz="780" dirty="0"/>
          </a:p>
        </p:txBody>
      </p:sp>
      <p:sp>
        <p:nvSpPr>
          <p:cNvPr id="15" name="Shape 10"/>
          <p:cNvSpPr/>
          <p:nvPr/>
        </p:nvSpPr>
        <p:spPr>
          <a:xfrm>
            <a:off x="6263640" y="3566160"/>
            <a:ext cx="525780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3" descr="/mnt/data/report_assets/p15_img03_1920x1080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413244" y="3675888"/>
            <a:ext cx="2958592" cy="166420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00800" y="5504688"/>
            <a:ext cx="4983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购物车与结账页面</a:t>
            </a:r>
            <a:endParaRPr lang="en-US" sz="780" dirty="0"/>
          </a:p>
        </p:txBody>
      </p:sp>
      <p:sp>
        <p:nvSpPr>
          <p:cNvPr id="18" name="Text 12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Custom Services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新增微服务设计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选择优惠券和库存两个电商核心能力，满足第三档“服务开发”要求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822960" y="1417320"/>
            <a:ext cx="502920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6355080" y="1417320"/>
            <a:ext cx="5029200" cy="3977640"/>
          </a:xfrm>
          <a:prstGeom prst="roundRect">
            <a:avLst>
              <a:gd name="adj" fmla="val 2759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1143000" y="1737360"/>
            <a:ext cx="685800" cy="685800"/>
          </a:xfrm>
          <a:prstGeom prst="ellipse">
            <a:avLst/>
          </a:prstGeom>
          <a:solidFill>
            <a:srgbClr val="FFF7ED"/>
          </a:solidFill>
          <a:ln w="12700">
            <a:solidFill>
              <a:srgbClr val="F59E0B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Text 7"/>
          <p:cNvSpPr/>
          <p:nvPr/>
        </p:nvSpPr>
        <p:spPr>
          <a:xfrm>
            <a:off x="1143000" y="1888236"/>
            <a:ext cx="6858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F59E0B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券</a:t>
            </a:r>
            <a:endParaRPr lang="en-US" sz="2550" dirty="0"/>
          </a:p>
        </p:txBody>
      </p:sp>
      <p:sp>
        <p:nvSpPr>
          <p:cNvPr id="10" name="Text 8"/>
          <p:cNvSpPr/>
          <p:nvPr/>
        </p:nvSpPr>
        <p:spPr>
          <a:xfrm>
            <a:off x="2057400" y="1783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coupon-service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57400" y="2240280"/>
            <a:ext cx="333756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优惠券列表查询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优惠码校验与折扣计算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结账时应用优惠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订单优惠记录查询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 /metrics 指标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675120" y="1737360"/>
            <a:ext cx="685800" cy="685800"/>
          </a:xfrm>
          <a:prstGeom prst="ellipse">
            <a:avLst/>
          </a:prstGeom>
          <a:solidFill>
            <a:srgbClr val="EAF8F4"/>
          </a:solidFill>
          <a:ln w="12700">
            <a:solidFill>
              <a:srgbClr val="5EC7A1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675120" y="1888236"/>
            <a:ext cx="685800" cy="3086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2550" dirty="0">
                <a:solidFill>
                  <a:srgbClr val="5EC7A1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库</a:t>
            </a:r>
            <a:endParaRPr lang="en-US" sz="2550" dirty="0"/>
          </a:p>
        </p:txBody>
      </p:sp>
      <p:sp>
        <p:nvSpPr>
          <p:cNvPr id="14" name="Text 12"/>
          <p:cNvSpPr/>
          <p:nvPr/>
        </p:nvSpPr>
        <p:spPr>
          <a:xfrm>
            <a:off x="7589520" y="178308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inventory-service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589520" y="2240280"/>
            <a:ext cx="3337560" cy="2194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商品库存列表查询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指定商品库存查询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库存同步、预留、释放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库存不足返回 409</a:t>
            </a:r>
            <a:endParaRPr lang="en-US" sz="1200" dirty="0"/>
          </a:p>
          <a:p>
            <a:r>
              <a:rPr lang="en-US" sz="12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暴露 /metrics 指标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383280" y="5806440"/>
            <a:ext cx="5257800" cy="256032"/>
          </a:xfrm>
          <a:prstGeom prst="roundRect">
            <a:avLst>
              <a:gd name="adj" fmla="val 28571"/>
            </a:avLst>
          </a:prstGeom>
          <a:solidFill>
            <a:srgbClr val="EAF8F4"/>
          </a:solidFill>
          <a:ln w="12700">
            <a:solidFill>
              <a:srgbClr val="2F8F83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Text 15"/>
          <p:cNvSpPr/>
          <p:nvPr/>
        </p:nvSpPr>
        <p:spPr>
          <a:xfrm>
            <a:off x="3456432" y="5856732"/>
            <a:ext cx="5111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2F8F8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接入对象：frontend / checkoutservice / productcatalogservice</a:t>
            </a:r>
            <a:endParaRPr lang="en-US" sz="820" dirty="0"/>
          </a:p>
        </p:txBody>
      </p:sp>
      <p:sp>
        <p:nvSpPr>
          <p:cNvPr id="18" name="Text 16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Microservice A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coupon-service：优惠券服务实现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FastAPI 接口 + Prometheus Counter/Histogram 指标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21208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914400" y="1664208"/>
            <a:ext cx="731520" cy="538190"/>
          </a:xfrm>
          <a:prstGeom prst="rect">
            <a:avLst/>
          </a:prstGeom>
          <a:solidFill>
            <a:srgbClr val="FFF7ED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60120" y="1709928"/>
            <a:ext cx="640080" cy="44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1645920" y="1664208"/>
            <a:ext cx="2240280" cy="538190"/>
          </a:xfrm>
          <a:prstGeom prst="rect">
            <a:avLst/>
          </a:prstGeom>
          <a:solidFill>
            <a:srgbClr val="FFF7ED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691640" y="1709928"/>
            <a:ext cx="2148840" cy="44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</a:t>
            </a:r>
            <a:endParaRPr lang="en-US" sz="960" dirty="0"/>
          </a:p>
        </p:txBody>
      </p:sp>
      <p:sp>
        <p:nvSpPr>
          <p:cNvPr id="11" name="Shape 9"/>
          <p:cNvSpPr/>
          <p:nvPr/>
        </p:nvSpPr>
        <p:spPr>
          <a:xfrm>
            <a:off x="3886200" y="1664208"/>
            <a:ext cx="1737360" cy="538190"/>
          </a:xfrm>
          <a:prstGeom prst="rect">
            <a:avLst/>
          </a:prstGeom>
          <a:solidFill>
            <a:srgbClr val="FFF7ED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3931920" y="1709928"/>
            <a:ext cx="1645920" cy="44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6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</a:t>
            </a:r>
            <a:endParaRPr lang="en-US" sz="960" dirty="0"/>
          </a:p>
        </p:txBody>
      </p:sp>
      <p:sp>
        <p:nvSpPr>
          <p:cNvPr id="13" name="Shape 11"/>
          <p:cNvSpPr/>
          <p:nvPr/>
        </p:nvSpPr>
        <p:spPr>
          <a:xfrm>
            <a:off x="914400" y="2202398"/>
            <a:ext cx="731520" cy="5381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60120" y="2248118"/>
            <a:ext cx="640080" cy="44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</a:t>
            </a:r>
            <a:endParaRPr lang="en-US" sz="870" dirty="0"/>
          </a:p>
        </p:txBody>
      </p:sp>
      <p:sp>
        <p:nvSpPr>
          <p:cNvPr id="15" name="Shape 13"/>
          <p:cNvSpPr/>
          <p:nvPr/>
        </p:nvSpPr>
        <p:spPr>
          <a:xfrm>
            <a:off x="1645920" y="2202398"/>
            <a:ext cx="2240280" cy="5381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691640" y="2248118"/>
            <a:ext cx="2148840" cy="44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/health</a:t>
            </a:r>
            <a:endParaRPr lang="en-US" sz="870" dirty="0"/>
          </a:p>
        </p:txBody>
      </p:sp>
      <p:sp>
        <p:nvSpPr>
          <p:cNvPr id="17" name="Shape 15"/>
          <p:cNvSpPr/>
          <p:nvPr/>
        </p:nvSpPr>
        <p:spPr>
          <a:xfrm>
            <a:off x="3886200" y="2202398"/>
            <a:ext cx="1737360" cy="5381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3931920" y="2248118"/>
            <a:ext cx="1645920" cy="44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健康检查</a:t>
            </a:r>
            <a:endParaRPr lang="en-US" sz="870" dirty="0"/>
          </a:p>
        </p:txBody>
      </p:sp>
      <p:sp>
        <p:nvSpPr>
          <p:cNvPr id="19" name="Shape 17"/>
          <p:cNvSpPr/>
          <p:nvPr/>
        </p:nvSpPr>
        <p:spPr>
          <a:xfrm>
            <a:off x="914400" y="2740587"/>
            <a:ext cx="731520" cy="5381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60120" y="2786307"/>
            <a:ext cx="640080" cy="44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</a:t>
            </a:r>
            <a:endParaRPr lang="en-US" sz="870" dirty="0"/>
          </a:p>
        </p:txBody>
      </p:sp>
      <p:sp>
        <p:nvSpPr>
          <p:cNvPr id="21" name="Shape 19"/>
          <p:cNvSpPr/>
          <p:nvPr/>
        </p:nvSpPr>
        <p:spPr>
          <a:xfrm>
            <a:off x="1645920" y="2740587"/>
            <a:ext cx="2240280" cy="5381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691640" y="2786307"/>
            <a:ext cx="2148840" cy="44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/coupons</a:t>
            </a:r>
            <a:endParaRPr lang="en-US" sz="870" dirty="0"/>
          </a:p>
        </p:txBody>
      </p:sp>
      <p:sp>
        <p:nvSpPr>
          <p:cNvPr id="23" name="Shape 21"/>
          <p:cNvSpPr/>
          <p:nvPr/>
        </p:nvSpPr>
        <p:spPr>
          <a:xfrm>
            <a:off x="3886200" y="2740587"/>
            <a:ext cx="1737360" cy="5381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3931920" y="2786307"/>
            <a:ext cx="1645920" cy="44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查询可用优惠券</a:t>
            </a:r>
            <a:endParaRPr lang="en-US" sz="870" dirty="0"/>
          </a:p>
        </p:txBody>
      </p:sp>
      <p:sp>
        <p:nvSpPr>
          <p:cNvPr id="25" name="Shape 23"/>
          <p:cNvSpPr/>
          <p:nvPr/>
        </p:nvSpPr>
        <p:spPr>
          <a:xfrm>
            <a:off x="914400" y="3278777"/>
            <a:ext cx="731520" cy="5381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960120" y="3324497"/>
            <a:ext cx="640080" cy="44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</a:t>
            </a:r>
            <a:endParaRPr lang="en-US" sz="870" dirty="0"/>
          </a:p>
        </p:txBody>
      </p:sp>
      <p:sp>
        <p:nvSpPr>
          <p:cNvPr id="27" name="Shape 25"/>
          <p:cNvSpPr/>
          <p:nvPr/>
        </p:nvSpPr>
        <p:spPr>
          <a:xfrm>
            <a:off x="1645920" y="3278777"/>
            <a:ext cx="2240280" cy="5381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691640" y="3324497"/>
            <a:ext cx="2148840" cy="44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/coupons/validate</a:t>
            </a:r>
            <a:endParaRPr lang="en-US" sz="870" dirty="0"/>
          </a:p>
        </p:txBody>
      </p:sp>
      <p:sp>
        <p:nvSpPr>
          <p:cNvPr id="29" name="Shape 27"/>
          <p:cNvSpPr/>
          <p:nvPr/>
        </p:nvSpPr>
        <p:spPr>
          <a:xfrm>
            <a:off x="3886200" y="3278777"/>
            <a:ext cx="1737360" cy="5381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3931920" y="3324497"/>
            <a:ext cx="1645920" cy="44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校验优惠码</a:t>
            </a:r>
            <a:endParaRPr lang="en-US" sz="870" dirty="0"/>
          </a:p>
        </p:txBody>
      </p:sp>
      <p:sp>
        <p:nvSpPr>
          <p:cNvPr id="31" name="Shape 29"/>
          <p:cNvSpPr/>
          <p:nvPr/>
        </p:nvSpPr>
        <p:spPr>
          <a:xfrm>
            <a:off x="914400" y="3816967"/>
            <a:ext cx="731520" cy="5381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960120" y="3862687"/>
            <a:ext cx="640080" cy="44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</a:t>
            </a:r>
            <a:endParaRPr lang="en-US" sz="870" dirty="0"/>
          </a:p>
        </p:txBody>
      </p:sp>
      <p:sp>
        <p:nvSpPr>
          <p:cNvPr id="33" name="Shape 31"/>
          <p:cNvSpPr/>
          <p:nvPr/>
        </p:nvSpPr>
        <p:spPr>
          <a:xfrm>
            <a:off x="1645920" y="3816967"/>
            <a:ext cx="2240280" cy="5381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691640" y="3862687"/>
            <a:ext cx="2148840" cy="44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/coupons/apply</a:t>
            </a:r>
            <a:endParaRPr lang="en-US" sz="870" dirty="0"/>
          </a:p>
        </p:txBody>
      </p:sp>
      <p:sp>
        <p:nvSpPr>
          <p:cNvPr id="35" name="Shape 33"/>
          <p:cNvSpPr/>
          <p:nvPr/>
        </p:nvSpPr>
        <p:spPr>
          <a:xfrm>
            <a:off x="3886200" y="3816967"/>
            <a:ext cx="1737360" cy="5381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3931920" y="3862687"/>
            <a:ext cx="1645920" cy="44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结账应用优惠</a:t>
            </a:r>
            <a:endParaRPr lang="en-US" sz="870" dirty="0"/>
          </a:p>
        </p:txBody>
      </p:sp>
      <p:sp>
        <p:nvSpPr>
          <p:cNvPr id="37" name="Shape 35"/>
          <p:cNvSpPr/>
          <p:nvPr/>
        </p:nvSpPr>
        <p:spPr>
          <a:xfrm>
            <a:off x="914400" y="4355157"/>
            <a:ext cx="731520" cy="5381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960120" y="4400877"/>
            <a:ext cx="640080" cy="44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</a:t>
            </a:r>
            <a:endParaRPr lang="en-US" sz="870" dirty="0"/>
          </a:p>
        </p:txBody>
      </p:sp>
      <p:sp>
        <p:nvSpPr>
          <p:cNvPr id="39" name="Shape 37"/>
          <p:cNvSpPr/>
          <p:nvPr/>
        </p:nvSpPr>
        <p:spPr>
          <a:xfrm>
            <a:off x="1645920" y="4355157"/>
            <a:ext cx="2240280" cy="5381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691640" y="4400877"/>
            <a:ext cx="2148840" cy="44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/coupons/applied/{id}</a:t>
            </a:r>
            <a:endParaRPr lang="en-US" sz="870" dirty="0"/>
          </a:p>
        </p:txBody>
      </p:sp>
      <p:sp>
        <p:nvSpPr>
          <p:cNvPr id="41" name="Shape 39"/>
          <p:cNvSpPr/>
          <p:nvPr/>
        </p:nvSpPr>
        <p:spPr>
          <a:xfrm>
            <a:off x="3886200" y="4355157"/>
            <a:ext cx="1737360" cy="5381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3931920" y="4400877"/>
            <a:ext cx="1645920" cy="44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订单优惠记录</a:t>
            </a:r>
            <a:endParaRPr lang="en-US" sz="870" dirty="0"/>
          </a:p>
        </p:txBody>
      </p:sp>
      <p:sp>
        <p:nvSpPr>
          <p:cNvPr id="43" name="Shape 41"/>
          <p:cNvSpPr/>
          <p:nvPr/>
        </p:nvSpPr>
        <p:spPr>
          <a:xfrm>
            <a:off x="914400" y="4893346"/>
            <a:ext cx="731520" cy="5381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960120" y="4939066"/>
            <a:ext cx="640080" cy="44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</a:t>
            </a:r>
            <a:endParaRPr lang="en-US" sz="870" dirty="0"/>
          </a:p>
        </p:txBody>
      </p:sp>
      <p:sp>
        <p:nvSpPr>
          <p:cNvPr id="45" name="Shape 43"/>
          <p:cNvSpPr/>
          <p:nvPr/>
        </p:nvSpPr>
        <p:spPr>
          <a:xfrm>
            <a:off x="1645920" y="4893346"/>
            <a:ext cx="2240280" cy="5381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691640" y="4939066"/>
            <a:ext cx="2148840" cy="44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/metrics</a:t>
            </a:r>
            <a:endParaRPr lang="en-US" sz="870" dirty="0"/>
          </a:p>
        </p:txBody>
      </p:sp>
      <p:sp>
        <p:nvSpPr>
          <p:cNvPr id="47" name="Shape 45"/>
          <p:cNvSpPr/>
          <p:nvPr/>
        </p:nvSpPr>
        <p:spPr>
          <a:xfrm>
            <a:off x="3886200" y="4893346"/>
            <a:ext cx="1737360" cy="5381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3931920" y="4939066"/>
            <a:ext cx="1645920" cy="44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7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 指标</a:t>
            </a:r>
            <a:endParaRPr lang="en-US" sz="870" dirty="0"/>
          </a:p>
        </p:txBody>
      </p:sp>
      <p:sp>
        <p:nvSpPr>
          <p:cNvPr id="49" name="Shape 47"/>
          <p:cNvSpPr/>
          <p:nvPr/>
        </p:nvSpPr>
        <p:spPr>
          <a:xfrm>
            <a:off x="6263640" y="1371600"/>
            <a:ext cx="5074920" cy="2057400"/>
          </a:xfrm>
          <a:prstGeom prst="roundRect">
            <a:avLst>
              <a:gd name="adj" fmla="val 5333"/>
            </a:avLst>
          </a:prstGeom>
          <a:solidFill>
            <a:srgbClr val="F8FBFA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6492240" y="16642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</a:t>
            </a:r>
            <a:endParaRPr lang="en-US" sz="1400" dirty="0"/>
          </a:p>
        </p:txBody>
      </p:sp>
      <p:sp>
        <p:nvSpPr>
          <p:cNvPr id="51" name="Text 49"/>
          <p:cNvSpPr/>
          <p:nvPr/>
        </p:nvSpPr>
        <p:spPr>
          <a:xfrm>
            <a:off x="6473952" y="2057400"/>
            <a:ext cx="43434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coupon_service_requests_total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coupon_service_request_duration_seconds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标签包含 service / method / endpoint / status</a:t>
            </a:r>
            <a:endParaRPr lang="en-US" sz="1100" dirty="0"/>
          </a:p>
        </p:txBody>
      </p:sp>
      <p:sp>
        <p:nvSpPr>
          <p:cNvPr id="52" name="Shape 50"/>
          <p:cNvSpPr/>
          <p:nvPr/>
        </p:nvSpPr>
        <p:spPr>
          <a:xfrm>
            <a:off x="6263640" y="3730752"/>
            <a:ext cx="5074920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53" name="Image 0" descr="/mnt/data/report_assets/p19_img02_1437x59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36484" y="3840480"/>
            <a:ext cx="2729231" cy="1133856"/>
          </a:xfrm>
          <a:prstGeom prst="rect">
            <a:avLst/>
          </a:prstGeom>
        </p:spPr>
      </p:pic>
      <p:sp>
        <p:nvSpPr>
          <p:cNvPr id="54" name="Text 51"/>
          <p:cNvSpPr/>
          <p:nvPr/>
        </p:nvSpPr>
        <p:spPr>
          <a:xfrm>
            <a:off x="6400800" y="5138928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优惠券接口验证</a:t>
            </a:r>
            <a:endParaRPr lang="en-US" sz="780" dirty="0"/>
          </a:p>
        </p:txBody>
      </p:sp>
      <p:sp>
        <p:nvSpPr>
          <p:cNvPr id="55" name="Text 52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7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Microservice B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inventory-service：库存服务实现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维护可用库存、已预留数量，并对库存不足场景返回明确错误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21208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914400" y="1600200"/>
            <a:ext cx="731520" cy="491490"/>
          </a:xfrm>
          <a:prstGeom prst="rect">
            <a:avLst/>
          </a:prstGeom>
          <a:solidFill>
            <a:srgbClr val="EAF8F4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60120" y="1645920"/>
            <a:ext cx="6400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方法</a:t>
            </a:r>
            <a:endParaRPr lang="en-US" sz="940" dirty="0"/>
          </a:p>
        </p:txBody>
      </p:sp>
      <p:sp>
        <p:nvSpPr>
          <p:cNvPr id="9" name="Shape 7"/>
          <p:cNvSpPr/>
          <p:nvPr/>
        </p:nvSpPr>
        <p:spPr>
          <a:xfrm>
            <a:off x="1645920" y="1600200"/>
            <a:ext cx="2331720" cy="491490"/>
          </a:xfrm>
          <a:prstGeom prst="rect">
            <a:avLst/>
          </a:prstGeom>
          <a:solidFill>
            <a:srgbClr val="EAF8F4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1691640" y="1645920"/>
            <a:ext cx="22402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</a:t>
            </a:r>
            <a:endParaRPr lang="en-US" sz="940" dirty="0"/>
          </a:p>
        </p:txBody>
      </p:sp>
      <p:sp>
        <p:nvSpPr>
          <p:cNvPr id="11" name="Shape 9"/>
          <p:cNvSpPr/>
          <p:nvPr/>
        </p:nvSpPr>
        <p:spPr>
          <a:xfrm>
            <a:off x="3977640" y="1600200"/>
            <a:ext cx="1645920" cy="491490"/>
          </a:xfrm>
          <a:prstGeom prst="rect">
            <a:avLst/>
          </a:prstGeom>
          <a:solidFill>
            <a:srgbClr val="EAF8F4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023360" y="1645920"/>
            <a:ext cx="15544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说明</a:t>
            </a:r>
            <a:endParaRPr lang="en-US" sz="940" dirty="0"/>
          </a:p>
        </p:txBody>
      </p:sp>
      <p:sp>
        <p:nvSpPr>
          <p:cNvPr id="13" name="Shape 11"/>
          <p:cNvSpPr/>
          <p:nvPr/>
        </p:nvSpPr>
        <p:spPr>
          <a:xfrm>
            <a:off x="914400" y="2091690"/>
            <a:ext cx="731520" cy="4914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960120" y="2137410"/>
            <a:ext cx="6400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</a:t>
            </a:r>
            <a:endParaRPr lang="en-US" sz="840" dirty="0"/>
          </a:p>
        </p:txBody>
      </p:sp>
      <p:sp>
        <p:nvSpPr>
          <p:cNvPr id="15" name="Shape 13"/>
          <p:cNvSpPr/>
          <p:nvPr/>
        </p:nvSpPr>
        <p:spPr>
          <a:xfrm>
            <a:off x="1645920" y="2091690"/>
            <a:ext cx="2331720" cy="4914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691640" y="2137410"/>
            <a:ext cx="22402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/health</a:t>
            </a:r>
            <a:endParaRPr lang="en-US" sz="840" dirty="0"/>
          </a:p>
        </p:txBody>
      </p:sp>
      <p:sp>
        <p:nvSpPr>
          <p:cNvPr id="17" name="Shape 15"/>
          <p:cNvSpPr/>
          <p:nvPr/>
        </p:nvSpPr>
        <p:spPr>
          <a:xfrm>
            <a:off x="3977640" y="2091690"/>
            <a:ext cx="1645920" cy="4914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023360" y="2137410"/>
            <a:ext cx="15544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健康检查</a:t>
            </a:r>
            <a:endParaRPr lang="en-US" sz="840" dirty="0"/>
          </a:p>
        </p:txBody>
      </p:sp>
      <p:sp>
        <p:nvSpPr>
          <p:cNvPr id="19" name="Shape 17"/>
          <p:cNvSpPr/>
          <p:nvPr/>
        </p:nvSpPr>
        <p:spPr>
          <a:xfrm>
            <a:off x="914400" y="2583180"/>
            <a:ext cx="731520" cy="4914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960120" y="2628900"/>
            <a:ext cx="6400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</a:t>
            </a:r>
            <a:endParaRPr lang="en-US" sz="840" dirty="0"/>
          </a:p>
        </p:txBody>
      </p:sp>
      <p:sp>
        <p:nvSpPr>
          <p:cNvPr id="21" name="Shape 19"/>
          <p:cNvSpPr/>
          <p:nvPr/>
        </p:nvSpPr>
        <p:spPr>
          <a:xfrm>
            <a:off x="1645920" y="2583180"/>
            <a:ext cx="2331720" cy="4914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691640" y="2628900"/>
            <a:ext cx="22402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/inventory</a:t>
            </a:r>
            <a:endParaRPr lang="en-US" sz="840" dirty="0"/>
          </a:p>
        </p:txBody>
      </p:sp>
      <p:sp>
        <p:nvSpPr>
          <p:cNvPr id="23" name="Shape 21"/>
          <p:cNvSpPr/>
          <p:nvPr/>
        </p:nvSpPr>
        <p:spPr>
          <a:xfrm>
            <a:off x="3977640" y="2583180"/>
            <a:ext cx="1645920" cy="4914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023360" y="2628900"/>
            <a:ext cx="15544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查询库存列表</a:t>
            </a:r>
            <a:endParaRPr lang="en-US" sz="840" dirty="0"/>
          </a:p>
        </p:txBody>
      </p:sp>
      <p:sp>
        <p:nvSpPr>
          <p:cNvPr id="25" name="Shape 23"/>
          <p:cNvSpPr/>
          <p:nvPr/>
        </p:nvSpPr>
        <p:spPr>
          <a:xfrm>
            <a:off x="914400" y="3074670"/>
            <a:ext cx="731520" cy="4914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960120" y="3120390"/>
            <a:ext cx="6400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1645920" y="3074670"/>
            <a:ext cx="2331720" cy="4914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691640" y="3120390"/>
            <a:ext cx="22402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/inventory/{product_id}</a:t>
            </a:r>
            <a:endParaRPr lang="en-US" sz="840" dirty="0"/>
          </a:p>
        </p:txBody>
      </p:sp>
      <p:sp>
        <p:nvSpPr>
          <p:cNvPr id="29" name="Shape 27"/>
          <p:cNvSpPr/>
          <p:nvPr/>
        </p:nvSpPr>
        <p:spPr>
          <a:xfrm>
            <a:off x="3977640" y="3074670"/>
            <a:ext cx="1645920" cy="4914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023360" y="3120390"/>
            <a:ext cx="15544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指定商品库存</a:t>
            </a:r>
            <a:endParaRPr lang="en-US" sz="840" dirty="0"/>
          </a:p>
        </p:txBody>
      </p:sp>
      <p:sp>
        <p:nvSpPr>
          <p:cNvPr id="31" name="Shape 29"/>
          <p:cNvSpPr/>
          <p:nvPr/>
        </p:nvSpPr>
        <p:spPr>
          <a:xfrm>
            <a:off x="914400" y="3566160"/>
            <a:ext cx="731520" cy="4914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960120" y="3611880"/>
            <a:ext cx="6400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1645920" y="3566160"/>
            <a:ext cx="2331720" cy="4914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1691640" y="3611880"/>
            <a:ext cx="22402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/inventory/sync</a:t>
            </a:r>
            <a:endParaRPr lang="en-US" sz="840" dirty="0"/>
          </a:p>
        </p:txBody>
      </p:sp>
      <p:sp>
        <p:nvSpPr>
          <p:cNvPr id="35" name="Shape 33"/>
          <p:cNvSpPr/>
          <p:nvPr/>
        </p:nvSpPr>
        <p:spPr>
          <a:xfrm>
            <a:off x="3977640" y="3566160"/>
            <a:ext cx="1645920" cy="4914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4023360" y="3611880"/>
            <a:ext cx="15544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同步商品库存</a:t>
            </a:r>
            <a:endParaRPr lang="en-US" sz="840" dirty="0"/>
          </a:p>
        </p:txBody>
      </p:sp>
      <p:sp>
        <p:nvSpPr>
          <p:cNvPr id="37" name="Shape 35"/>
          <p:cNvSpPr/>
          <p:nvPr/>
        </p:nvSpPr>
        <p:spPr>
          <a:xfrm>
            <a:off x="914400" y="4057650"/>
            <a:ext cx="731520" cy="4914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960120" y="4103370"/>
            <a:ext cx="6400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</a:t>
            </a:r>
            <a:endParaRPr lang="en-US" sz="840" dirty="0"/>
          </a:p>
        </p:txBody>
      </p:sp>
      <p:sp>
        <p:nvSpPr>
          <p:cNvPr id="39" name="Shape 37"/>
          <p:cNvSpPr/>
          <p:nvPr/>
        </p:nvSpPr>
        <p:spPr>
          <a:xfrm>
            <a:off x="1645920" y="4057650"/>
            <a:ext cx="2331720" cy="4914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1691640" y="4103370"/>
            <a:ext cx="22402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/inventory/reserve</a:t>
            </a:r>
            <a:endParaRPr lang="en-US" sz="840" dirty="0"/>
          </a:p>
        </p:txBody>
      </p:sp>
      <p:sp>
        <p:nvSpPr>
          <p:cNvPr id="41" name="Shape 39"/>
          <p:cNvSpPr/>
          <p:nvPr/>
        </p:nvSpPr>
        <p:spPr>
          <a:xfrm>
            <a:off x="3977640" y="4057650"/>
            <a:ext cx="1645920" cy="4914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4023360" y="4103370"/>
            <a:ext cx="15544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下单预留库存</a:t>
            </a:r>
            <a:endParaRPr lang="en-US" sz="840" dirty="0"/>
          </a:p>
        </p:txBody>
      </p:sp>
      <p:sp>
        <p:nvSpPr>
          <p:cNvPr id="43" name="Shape 41"/>
          <p:cNvSpPr/>
          <p:nvPr/>
        </p:nvSpPr>
        <p:spPr>
          <a:xfrm>
            <a:off x="914400" y="4549140"/>
            <a:ext cx="731520" cy="4914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960120" y="4594860"/>
            <a:ext cx="6400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POST</a:t>
            </a:r>
            <a:endParaRPr lang="en-US" sz="840" dirty="0"/>
          </a:p>
        </p:txBody>
      </p:sp>
      <p:sp>
        <p:nvSpPr>
          <p:cNvPr id="45" name="Shape 43"/>
          <p:cNvSpPr/>
          <p:nvPr/>
        </p:nvSpPr>
        <p:spPr>
          <a:xfrm>
            <a:off x="1645920" y="4549140"/>
            <a:ext cx="2331720" cy="4914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1691640" y="4594860"/>
            <a:ext cx="22402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/inventory/release</a:t>
            </a:r>
            <a:endParaRPr lang="en-US" sz="840" dirty="0"/>
          </a:p>
        </p:txBody>
      </p:sp>
      <p:sp>
        <p:nvSpPr>
          <p:cNvPr id="47" name="Shape 45"/>
          <p:cNvSpPr/>
          <p:nvPr/>
        </p:nvSpPr>
        <p:spPr>
          <a:xfrm>
            <a:off x="3977640" y="4549140"/>
            <a:ext cx="1645920" cy="4914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4023360" y="4594860"/>
            <a:ext cx="15544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取消释放库存</a:t>
            </a:r>
            <a:endParaRPr lang="en-US" sz="840" dirty="0"/>
          </a:p>
        </p:txBody>
      </p:sp>
      <p:sp>
        <p:nvSpPr>
          <p:cNvPr id="49" name="Shape 47"/>
          <p:cNvSpPr/>
          <p:nvPr/>
        </p:nvSpPr>
        <p:spPr>
          <a:xfrm>
            <a:off x="914400" y="5040630"/>
            <a:ext cx="731520" cy="4914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960120" y="5086350"/>
            <a:ext cx="6400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GET</a:t>
            </a:r>
            <a:endParaRPr lang="en-US" sz="840" dirty="0"/>
          </a:p>
        </p:txBody>
      </p:sp>
      <p:sp>
        <p:nvSpPr>
          <p:cNvPr id="51" name="Shape 49"/>
          <p:cNvSpPr/>
          <p:nvPr/>
        </p:nvSpPr>
        <p:spPr>
          <a:xfrm>
            <a:off x="1645920" y="5040630"/>
            <a:ext cx="2331720" cy="4914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1691640" y="5086350"/>
            <a:ext cx="22402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/metrics</a:t>
            </a:r>
            <a:endParaRPr lang="en-US" sz="840" dirty="0"/>
          </a:p>
        </p:txBody>
      </p:sp>
      <p:sp>
        <p:nvSpPr>
          <p:cNvPr id="53" name="Shape 51"/>
          <p:cNvSpPr/>
          <p:nvPr/>
        </p:nvSpPr>
        <p:spPr>
          <a:xfrm>
            <a:off x="3977640" y="5040630"/>
            <a:ext cx="1645920" cy="49149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4023360" y="5086350"/>
            <a:ext cx="155448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 指标</a:t>
            </a:r>
            <a:endParaRPr lang="en-US" sz="840" dirty="0"/>
          </a:p>
        </p:txBody>
      </p:sp>
      <p:sp>
        <p:nvSpPr>
          <p:cNvPr id="55" name="Shape 53"/>
          <p:cNvSpPr/>
          <p:nvPr/>
        </p:nvSpPr>
        <p:spPr>
          <a:xfrm>
            <a:off x="6263640" y="1371600"/>
            <a:ext cx="5074920" cy="1920240"/>
          </a:xfrm>
          <a:prstGeom prst="roundRect">
            <a:avLst>
              <a:gd name="adj" fmla="val 5714"/>
            </a:avLst>
          </a:prstGeom>
          <a:solidFill>
            <a:srgbClr val="F8FBFA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6492240" y="1664208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异常场景覆盖</a:t>
            </a:r>
            <a:endParaRPr lang="en-US" sz="1400" dirty="0"/>
          </a:p>
        </p:txBody>
      </p:sp>
      <p:sp>
        <p:nvSpPr>
          <p:cNvPr id="57" name="Text 55"/>
          <p:cNvSpPr/>
          <p:nvPr/>
        </p:nvSpPr>
        <p:spPr>
          <a:xfrm>
            <a:off x="6473952" y="2057400"/>
            <a:ext cx="4343400" cy="868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库存不足返回 409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库存预留与释放可被 JMeter 压测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库存指标可进入 Grafana 与算法输入</a:t>
            </a:r>
            <a:endParaRPr lang="en-US" sz="1100" dirty="0"/>
          </a:p>
        </p:txBody>
      </p:sp>
      <p:sp>
        <p:nvSpPr>
          <p:cNvPr id="58" name="Shape 56"/>
          <p:cNvSpPr/>
          <p:nvPr/>
        </p:nvSpPr>
        <p:spPr>
          <a:xfrm>
            <a:off x="6263640" y="3657600"/>
            <a:ext cx="5074920" cy="1664208"/>
          </a:xfrm>
          <a:prstGeom prst="roundRect">
            <a:avLst>
              <a:gd name="adj" fmla="val 6593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59" name="Image 0" descr="/mnt/data/report_assets/p19_img03_1464x5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41135" y="3767328"/>
            <a:ext cx="3319930" cy="1133856"/>
          </a:xfrm>
          <a:prstGeom prst="rect">
            <a:avLst/>
          </a:prstGeom>
        </p:spPr>
      </p:pic>
      <p:sp>
        <p:nvSpPr>
          <p:cNvPr id="60" name="Text 57"/>
          <p:cNvSpPr/>
          <p:nvPr/>
        </p:nvSpPr>
        <p:spPr>
          <a:xfrm>
            <a:off x="6400800" y="5065776"/>
            <a:ext cx="48006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库存服务接口验证</a:t>
            </a:r>
            <a:endParaRPr lang="en-US" sz="780" dirty="0"/>
          </a:p>
        </p:txBody>
      </p:sp>
      <p:sp>
        <p:nvSpPr>
          <p:cNvPr id="61" name="Text 58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7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Integration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新增服务接入与验证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不重构官方前端镜像，通过环境变量和 API 验证降低协作成本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16611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758952" y="1399032"/>
            <a:ext cx="1514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构建镜像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365248" y="1645920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2511552" y="1325880"/>
            <a:ext cx="16611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584704" y="1399032"/>
            <a:ext cx="1514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导入 Minikube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191000" y="1645920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337304" y="1325880"/>
            <a:ext cx="16611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410456" y="1399032"/>
            <a:ext cx="1514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部署 Service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16752" y="1645920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163056" y="1325880"/>
            <a:ext cx="16611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236208" y="1399032"/>
            <a:ext cx="1514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注入环境变量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842504" y="1645920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7988808" y="1325880"/>
            <a:ext cx="1661160" cy="640080"/>
          </a:xfrm>
          <a:prstGeom prst="roundRect">
            <a:avLst>
              <a:gd name="adj" fmla="val 17143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061960" y="1399032"/>
            <a:ext cx="1514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接口验证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68256" y="1645920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9814560" y="1325880"/>
            <a:ext cx="1661160" cy="640080"/>
          </a:xfrm>
          <a:prstGeom prst="roundRect">
            <a:avLst>
              <a:gd name="adj" fmla="val 17143"/>
            </a:avLst>
          </a:prstGeom>
          <a:solidFill>
            <a:srgbClr val="EAF8F4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9887712" y="1399032"/>
            <a:ext cx="1514856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压测验证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31520" y="2331720"/>
            <a:ext cx="5166360" cy="2697480"/>
          </a:xfrm>
          <a:prstGeom prst="roundRect">
            <a:avLst>
              <a:gd name="adj" fmla="val 4068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Shape 22"/>
          <p:cNvSpPr/>
          <p:nvPr/>
        </p:nvSpPr>
        <p:spPr>
          <a:xfrm>
            <a:off x="914400" y="2578608"/>
            <a:ext cx="1417320" cy="514350"/>
          </a:xfrm>
          <a:prstGeom prst="rect">
            <a:avLst/>
          </a:prstGeom>
          <a:solidFill>
            <a:srgbClr val="5EC7A1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960120" y="2624328"/>
            <a:ext cx="132588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Deployment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2331720" y="2578608"/>
            <a:ext cx="3246120" cy="514350"/>
          </a:xfrm>
          <a:prstGeom prst="rect">
            <a:avLst/>
          </a:prstGeom>
          <a:solidFill>
            <a:srgbClr val="5EC7A1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2377440" y="2624328"/>
            <a:ext cx="315468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注入环境变量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914400" y="3092958"/>
            <a:ext cx="1417320" cy="51435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960120" y="3138678"/>
            <a:ext cx="132588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frontend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2331720" y="3092958"/>
            <a:ext cx="3246120" cy="51435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2377440" y="3138678"/>
            <a:ext cx="315468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COUPON_SERVICE_ADDR / INVENTORY_SERVICE_ADDR</a:t>
            </a:r>
            <a:endParaRPr lang="en-US" sz="880" dirty="0"/>
          </a:p>
        </p:txBody>
      </p:sp>
      <p:sp>
        <p:nvSpPr>
          <p:cNvPr id="32" name="Shape 30"/>
          <p:cNvSpPr/>
          <p:nvPr/>
        </p:nvSpPr>
        <p:spPr>
          <a:xfrm>
            <a:off x="914400" y="3607308"/>
            <a:ext cx="1417320" cy="51435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960120" y="3653028"/>
            <a:ext cx="132588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checkoutservice</a:t>
            </a:r>
            <a:endParaRPr lang="en-US" sz="880" dirty="0"/>
          </a:p>
        </p:txBody>
      </p:sp>
      <p:sp>
        <p:nvSpPr>
          <p:cNvPr id="34" name="Shape 32"/>
          <p:cNvSpPr/>
          <p:nvPr/>
        </p:nvSpPr>
        <p:spPr>
          <a:xfrm>
            <a:off x="2331720" y="3607308"/>
            <a:ext cx="3246120" cy="51435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2377440" y="3653028"/>
            <a:ext cx="315468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COUPON_SERVICE_ADDR / INVENTORY_SERVICE_ADDR</a:t>
            </a:r>
            <a:endParaRPr lang="en-US" sz="880" dirty="0"/>
          </a:p>
        </p:txBody>
      </p:sp>
      <p:sp>
        <p:nvSpPr>
          <p:cNvPr id="36" name="Shape 34"/>
          <p:cNvSpPr/>
          <p:nvPr/>
        </p:nvSpPr>
        <p:spPr>
          <a:xfrm>
            <a:off x="914400" y="4121658"/>
            <a:ext cx="1417320" cy="51435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960120" y="4167378"/>
            <a:ext cx="132588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productcatalogservice</a:t>
            </a:r>
            <a:endParaRPr lang="en-US" sz="880" dirty="0"/>
          </a:p>
        </p:txBody>
      </p:sp>
      <p:sp>
        <p:nvSpPr>
          <p:cNvPr id="38" name="Shape 36"/>
          <p:cNvSpPr/>
          <p:nvPr/>
        </p:nvSpPr>
        <p:spPr>
          <a:xfrm>
            <a:off x="2331720" y="4121658"/>
            <a:ext cx="3246120" cy="51435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2377440" y="4167378"/>
            <a:ext cx="3154680" cy="4229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INVENTORY_SERVICE_ADDR</a:t>
            </a:r>
            <a:endParaRPr lang="en-US" sz="880" dirty="0"/>
          </a:p>
        </p:txBody>
      </p:sp>
      <p:sp>
        <p:nvSpPr>
          <p:cNvPr id="40" name="Shape 38"/>
          <p:cNvSpPr/>
          <p:nvPr/>
        </p:nvSpPr>
        <p:spPr>
          <a:xfrm>
            <a:off x="6217920" y="2148840"/>
            <a:ext cx="5257800" cy="3063240"/>
          </a:xfrm>
          <a:prstGeom prst="roundRect">
            <a:avLst>
              <a:gd name="adj" fmla="val 3582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41" name="Image 0" descr="/mnt/data/report_assets/p19_img04_1471x5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648" y="2612219"/>
            <a:ext cx="5038344" cy="1825586"/>
          </a:xfrm>
          <a:prstGeom prst="rect">
            <a:avLst/>
          </a:prstGeom>
        </p:spPr>
      </p:pic>
      <p:sp>
        <p:nvSpPr>
          <p:cNvPr id="42" name="Text 39"/>
          <p:cNvSpPr/>
          <p:nvPr/>
        </p:nvSpPr>
        <p:spPr>
          <a:xfrm>
            <a:off x="6355080" y="4956048"/>
            <a:ext cx="4983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新增服务地址注入验证</a:t>
            </a:r>
            <a:endParaRPr lang="en-US" sz="780" dirty="0"/>
          </a:p>
        </p:txBody>
      </p:sp>
      <p:sp>
        <p:nvSpPr>
          <p:cNvPr id="43" name="Text 40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7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Monitoring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监控实验目标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监控不仅用于展示状态，也为故障标注、算法和 Agent 提供数据输入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777240" y="1444752"/>
            <a:ext cx="50749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987552" y="1737360"/>
            <a:ext cx="438912" cy="438912"/>
          </a:xfrm>
          <a:prstGeom prst="ellipse">
            <a:avLst/>
          </a:prstGeom>
          <a:solidFill>
            <a:srgbClr val="EAF8F4"/>
          </a:solidFill>
          <a:ln w="12700">
            <a:solidFill>
              <a:srgbClr val="5EC7A1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987552" y="1833921"/>
            <a:ext cx="43891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32" dirty="0">
                <a:solidFill>
                  <a:srgbClr val="5EC7A1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📦</a:t>
            </a:r>
            <a:endParaRPr lang="en-US" sz="1632" dirty="0"/>
          </a:p>
        </p:txBody>
      </p:sp>
      <p:sp>
        <p:nvSpPr>
          <p:cNvPr id="9" name="Text 7"/>
          <p:cNvSpPr/>
          <p:nvPr/>
        </p:nvSpPr>
        <p:spPr>
          <a:xfrm>
            <a:off x="1600200" y="1691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对象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063240" y="1655064"/>
            <a:ext cx="23317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状态、CPU、内存、网络、重启次数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6309360" y="1444752"/>
            <a:ext cx="50749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6519672" y="1737360"/>
            <a:ext cx="438912" cy="438912"/>
          </a:xfrm>
          <a:prstGeom prst="ellipse">
            <a:avLst/>
          </a:prstGeom>
          <a:solidFill>
            <a:srgbClr val="EAF8F4"/>
          </a:solidFill>
          <a:ln w="12700">
            <a:solidFill>
              <a:srgbClr val="5EC7A1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6519672" y="1833921"/>
            <a:ext cx="43891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32" dirty="0">
                <a:solidFill>
                  <a:srgbClr val="5EC7A1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🌐</a:t>
            </a:r>
            <a:endParaRPr lang="en-US" sz="1632" dirty="0"/>
          </a:p>
        </p:txBody>
      </p:sp>
      <p:sp>
        <p:nvSpPr>
          <p:cNvPr id="14" name="Text 12"/>
          <p:cNvSpPr/>
          <p:nvPr/>
        </p:nvSpPr>
        <p:spPr>
          <a:xfrm>
            <a:off x="7132320" y="1691640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595360" y="1655064"/>
            <a:ext cx="23317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请求量、错误率、平均延迟、P95 延迟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777240" y="3200400"/>
            <a:ext cx="50749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5"/>
          <p:cNvSpPr/>
          <p:nvPr/>
        </p:nvSpPr>
        <p:spPr>
          <a:xfrm>
            <a:off x="987552" y="3493008"/>
            <a:ext cx="438912" cy="438912"/>
          </a:xfrm>
          <a:prstGeom prst="ellipse">
            <a:avLst/>
          </a:prstGeom>
          <a:solidFill>
            <a:srgbClr val="EAF8F4"/>
          </a:solidFill>
          <a:ln w="12700">
            <a:solidFill>
              <a:srgbClr val="5EC7A1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87552" y="3589569"/>
            <a:ext cx="43891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32" dirty="0">
                <a:solidFill>
                  <a:srgbClr val="5EC7A1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🔎</a:t>
            </a:r>
            <a:endParaRPr lang="en-US" sz="1632" dirty="0"/>
          </a:p>
        </p:txBody>
      </p:sp>
      <p:sp>
        <p:nvSpPr>
          <p:cNvPr id="19" name="Text 17"/>
          <p:cNvSpPr/>
          <p:nvPr/>
        </p:nvSpPr>
        <p:spPr>
          <a:xfrm>
            <a:off x="1600200" y="34472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3063240" y="3410712"/>
            <a:ext cx="23317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故障前后对比、异常数据导出、诊断证据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309360" y="3200400"/>
            <a:ext cx="50749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Shape 20"/>
          <p:cNvSpPr/>
          <p:nvPr/>
        </p:nvSpPr>
        <p:spPr>
          <a:xfrm>
            <a:off x="6519672" y="3493008"/>
            <a:ext cx="438912" cy="438912"/>
          </a:xfrm>
          <a:prstGeom prst="ellipse">
            <a:avLst/>
          </a:prstGeom>
          <a:solidFill>
            <a:srgbClr val="EAF8F4"/>
          </a:solidFill>
          <a:ln w="12700">
            <a:solidFill>
              <a:srgbClr val="5EC7A1">
                <a:alpha val="6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519672" y="3589569"/>
            <a:ext cx="438912" cy="19751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 algn="ctr">
              <a:buNone/>
            </a:pPr>
            <a:r>
              <a:rPr lang="en-US" sz="1632" dirty="0">
                <a:solidFill>
                  <a:srgbClr val="5EC7A1"/>
                </a:solidFill>
                <a:latin typeface="Segoe UI Emoji" pitchFamily="34" charset="0"/>
                <a:ea typeface="Segoe UI Emoji" pitchFamily="34" charset="-122"/>
                <a:cs typeface="Segoe UI Emoji" pitchFamily="34" charset="-120"/>
              </a:rPr>
              <a:t>📁</a:t>
            </a:r>
            <a:endParaRPr lang="en-US" sz="1632" dirty="0"/>
          </a:p>
        </p:txBody>
      </p:sp>
      <p:sp>
        <p:nvSpPr>
          <p:cNvPr id="24" name="Text 22"/>
          <p:cNvSpPr/>
          <p:nvPr/>
        </p:nvSpPr>
        <p:spPr>
          <a:xfrm>
            <a:off x="7132320" y="344728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8595360" y="3410712"/>
            <a:ext cx="23317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 Targets、Grafana 看板、CSV 数据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7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 Dimensions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采集维度：从资源指标到业务指标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监控数据在展示、故障标注和算法建模中复用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731520" y="141732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14400" y="16184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资源层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075688"/>
            <a:ext cx="27889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cpu_usage、memory_usage_mb、network_receive/transmit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4480560" y="141732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663440" y="16184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容器层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663440" y="2075688"/>
            <a:ext cx="27889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restart_count、pod_phase、container_status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8229600" y="141732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412480" y="161848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请求层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412480" y="2075688"/>
            <a:ext cx="27889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request_rate、throughput、http_2xx/4xx/5xx_rate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731520" y="338328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914400" y="35844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延迟层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14400" y="4041648"/>
            <a:ext cx="27889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avg_latency_ms、p50/p90/p95/p99_latency_ms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4480560" y="338328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8FBFA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663440" y="35844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故障标签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663440" y="4041648"/>
            <a:ext cx="27889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fault_type、fault_service、fault_phase、experiment_id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8229600" y="3383280"/>
            <a:ext cx="3246120" cy="1417320"/>
          </a:xfrm>
          <a:prstGeom prst="roundRect">
            <a:avLst>
              <a:gd name="adj" fmla="val 7742"/>
            </a:avLst>
          </a:prstGeom>
          <a:solidFill>
            <a:srgbClr val="F8FBFA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8412480" y="358444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解释字段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412480" y="4041648"/>
            <a:ext cx="2788920" cy="329184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service、pod、namespace、node、timestamp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1874520" y="5833872"/>
            <a:ext cx="8321040" cy="256032"/>
          </a:xfrm>
          <a:prstGeom prst="roundRect">
            <a:avLst>
              <a:gd name="adj" fmla="val 28571"/>
            </a:avLst>
          </a:prstGeom>
          <a:solidFill>
            <a:srgbClr val="EAF8F4"/>
          </a:solidFill>
          <a:ln w="12700">
            <a:solidFill>
              <a:srgbClr val="1F6F6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1947672" y="5884164"/>
            <a:ext cx="81747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timestamp / label / fault_type 等字段只用于标注和解释，不作为模型输入，避免标签泄漏。</a:t>
            </a:r>
            <a:endParaRPr lang="en-US" sz="820" dirty="0"/>
          </a:p>
        </p:txBody>
      </p:sp>
      <p:sp>
        <p:nvSpPr>
          <p:cNvPr id="26" name="Text 24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7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 接入设计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kube-prometheus-stack 提供资源采集，新增服务暴露应用级 /metrics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5486400" cy="2834640"/>
          </a:xfrm>
          <a:prstGeom prst="roundRect">
            <a:avLst>
              <a:gd name="adj" fmla="val 3871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/mnt/data/report_assets/p22_img02_2940x16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3101" y="1435608"/>
            <a:ext cx="4051798" cy="23042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904488"/>
            <a:ext cx="52120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 Targets 采集状态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492240" y="1325880"/>
            <a:ext cx="4754880" cy="2834640"/>
          </a:xfrm>
          <a:prstGeom prst="roundRect">
            <a:avLst>
              <a:gd name="adj" fmla="val 3871"/>
            </a:avLst>
          </a:prstGeom>
          <a:solidFill>
            <a:srgbClr val="0F172A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6693408" y="1627632"/>
            <a:ext cx="4370832" cy="2194560"/>
          </a:xfrm>
          <a:prstGeom prst="rect">
            <a:avLst/>
          </a:prstGeom>
          <a:noFill/>
          <a:ln/>
        </p:spPr>
        <p:txBody>
          <a:bodyPr wrap="square" lIns="635" tIns="635" rIns="635" bIns="635" rtlCol="0" anchor="ctr">
            <a:normAutofit/>
          </a:bodyPr>
          <a:lstStyle/>
          <a:p>
            <a:pPr marL="0" indent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by (phase)(kube_pod_status_phase{namespace="online-boutique"})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sum by (pod)(rate(container_cpu_usage_seconds_total{namespace="online-boutique"}[5m]))</a:t>
            </a:r>
            <a:endParaRPr lang="en-US" sz="820" dirty="0"/>
          </a:p>
          <a:p>
            <a:pPr marL="0" indent="0">
              <a:buNone/>
            </a:pPr>
            <a:endParaRPr lang="en-US" sz="820" dirty="0"/>
          </a:p>
          <a:p>
            <a:pPr marL="0" indent="0">
              <a:buNone/>
            </a:pPr>
            <a:r>
              <a:rPr lang="en-US" sz="82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histogram_quantile(0.95, sum by (le,service)(rate(*_duration_seconds_bucket[5m])))</a:t>
            </a:r>
            <a:endParaRPr lang="en-US" sz="820" dirty="0"/>
          </a:p>
        </p:txBody>
      </p:sp>
      <p:sp>
        <p:nvSpPr>
          <p:cNvPr id="11" name="Shape 8"/>
          <p:cNvSpPr/>
          <p:nvPr/>
        </p:nvSpPr>
        <p:spPr>
          <a:xfrm>
            <a:off x="1005840" y="4773168"/>
            <a:ext cx="1898294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1078992" y="4846320"/>
            <a:ext cx="175199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 标签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2922422" y="5070348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Shape 11"/>
          <p:cNvSpPr/>
          <p:nvPr/>
        </p:nvSpPr>
        <p:spPr>
          <a:xfrm>
            <a:off x="3068726" y="4773168"/>
            <a:ext cx="1898294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5" name="Text 12"/>
          <p:cNvSpPr/>
          <p:nvPr/>
        </p:nvSpPr>
        <p:spPr>
          <a:xfrm>
            <a:off x="3141878" y="4846320"/>
            <a:ext cx="175199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ServiceMonitor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4985309" y="5070348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7" name="Shape 14"/>
          <p:cNvSpPr/>
          <p:nvPr/>
        </p:nvSpPr>
        <p:spPr>
          <a:xfrm>
            <a:off x="5131613" y="4773168"/>
            <a:ext cx="1898294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5204765" y="4846320"/>
            <a:ext cx="175199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 Scrape</a:t>
            </a:r>
            <a:endParaRPr lang="en-US" sz="1050" dirty="0"/>
          </a:p>
        </p:txBody>
      </p:sp>
      <p:sp>
        <p:nvSpPr>
          <p:cNvPr id="19" name="Shape 16"/>
          <p:cNvSpPr/>
          <p:nvPr/>
        </p:nvSpPr>
        <p:spPr>
          <a:xfrm>
            <a:off x="7048195" y="5070348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Shape 17"/>
          <p:cNvSpPr/>
          <p:nvPr/>
        </p:nvSpPr>
        <p:spPr>
          <a:xfrm>
            <a:off x="7194499" y="4773168"/>
            <a:ext cx="1898294" cy="594360"/>
          </a:xfrm>
          <a:prstGeom prst="roundRect">
            <a:avLst>
              <a:gd name="adj" fmla="val 18462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8"/>
          <p:cNvSpPr/>
          <p:nvPr/>
        </p:nvSpPr>
        <p:spPr>
          <a:xfrm>
            <a:off x="7267651" y="4846320"/>
            <a:ext cx="175199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Grafana Query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9111082" y="5070348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Shape 20"/>
          <p:cNvSpPr/>
          <p:nvPr/>
        </p:nvSpPr>
        <p:spPr>
          <a:xfrm>
            <a:off x="9257386" y="4773168"/>
            <a:ext cx="1898294" cy="594360"/>
          </a:xfrm>
          <a:prstGeom prst="roundRect">
            <a:avLst>
              <a:gd name="adj" fmla="val 18462"/>
            </a:avLst>
          </a:prstGeom>
          <a:solidFill>
            <a:srgbClr val="EAF8F4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9330538" y="4846320"/>
            <a:ext cx="1751990" cy="4480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 Export</a:t>
            </a:r>
            <a:endParaRPr lang="en-US" sz="1050" dirty="0"/>
          </a:p>
        </p:txBody>
      </p:sp>
      <p:sp>
        <p:nvSpPr>
          <p:cNvPr id="25" name="Text 22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7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Grafana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Grafana 监控展示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总览面板、服务面板和故障对比面板共同支撑实验分析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85800" y="132588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/mnt/data/report_assets/p22_img03_2940x167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40720" y="1435608"/>
            <a:ext cx="2685120" cy="152704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127248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Online-Boutique 总览看板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263640" y="1325880"/>
            <a:ext cx="52578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1" descr="/mnt/data/report_assets/p23_img02_2940x167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9980" y="1435608"/>
            <a:ext cx="2685120" cy="152704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0" y="3127248"/>
            <a:ext cx="4983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新增服务监控面板</a:t>
            </a:r>
            <a:endParaRPr lang="en-US" sz="780" dirty="0"/>
          </a:p>
        </p:txBody>
      </p:sp>
      <p:sp>
        <p:nvSpPr>
          <p:cNvPr id="12" name="Shape 8"/>
          <p:cNvSpPr/>
          <p:nvPr/>
        </p:nvSpPr>
        <p:spPr>
          <a:xfrm>
            <a:off x="685800" y="3657600"/>
            <a:ext cx="539496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2" descr="/mnt/data/report_assets/p23_img03_2940x1672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40720" y="3767328"/>
            <a:ext cx="2685120" cy="15270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" y="5458968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故障前后指标对比</a:t>
            </a:r>
            <a:endParaRPr lang="en-US" sz="780" dirty="0"/>
          </a:p>
        </p:txBody>
      </p:sp>
      <p:sp>
        <p:nvSpPr>
          <p:cNvPr id="15" name="Shape 10"/>
          <p:cNvSpPr/>
          <p:nvPr/>
        </p:nvSpPr>
        <p:spPr>
          <a:xfrm>
            <a:off x="6263640" y="3657600"/>
            <a:ext cx="525780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1"/>
          <p:cNvSpPr/>
          <p:nvPr/>
        </p:nvSpPr>
        <p:spPr>
          <a:xfrm>
            <a:off x="6537960" y="3913632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看板价值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6537960" y="4315968"/>
            <a:ext cx="4389120" cy="1097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故障发生时可观察 CPU、延迟、错误率波动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新增服务指标与原系统指标放在同一监控视图</a:t>
            </a:r>
            <a:endParaRPr lang="en-US" sz="1100" dirty="0"/>
          </a:p>
          <a:p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 fault_metrics.csv 提供故障窗口证据</a:t>
            </a:r>
            <a:endParaRPr lang="en-US" sz="1100" dirty="0"/>
          </a:p>
        </p:txBody>
      </p:sp>
      <p:sp>
        <p:nvSpPr>
          <p:cNvPr id="18" name="Text 13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19</a:t>
            </a:r>
            <a:endParaRPr lang="en-US" sz="7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ChaosMesh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ChaosMesh 故障注入实验矩阵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 组故障覆盖新增服务和核心服务，支撑异常数据标注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676656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051560" y="1600200"/>
            <a:ext cx="914400" cy="431800"/>
          </a:xfrm>
          <a:prstGeom prst="rect">
            <a:avLst/>
          </a:prstGeom>
          <a:solidFill>
            <a:srgbClr val="5EC7A1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097280" y="1645920"/>
            <a:ext cx="822960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编号</a:t>
            </a:r>
            <a:endParaRPr lang="en-US" sz="1040" dirty="0"/>
          </a:p>
        </p:txBody>
      </p:sp>
      <p:sp>
        <p:nvSpPr>
          <p:cNvPr id="9" name="Shape 7"/>
          <p:cNvSpPr/>
          <p:nvPr/>
        </p:nvSpPr>
        <p:spPr>
          <a:xfrm>
            <a:off x="1965960" y="1600200"/>
            <a:ext cx="2011680" cy="431800"/>
          </a:xfrm>
          <a:prstGeom prst="rect">
            <a:avLst/>
          </a:prstGeom>
          <a:solidFill>
            <a:srgbClr val="5EC7A1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011680" y="1645920"/>
            <a:ext cx="1920240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故障类型</a:t>
            </a:r>
            <a:endParaRPr lang="en-US" sz="1040" dirty="0"/>
          </a:p>
        </p:txBody>
      </p:sp>
      <p:sp>
        <p:nvSpPr>
          <p:cNvPr id="11" name="Shape 9"/>
          <p:cNvSpPr/>
          <p:nvPr/>
        </p:nvSpPr>
        <p:spPr>
          <a:xfrm>
            <a:off x="3977640" y="1600200"/>
            <a:ext cx="2743200" cy="431800"/>
          </a:xfrm>
          <a:prstGeom prst="rect">
            <a:avLst/>
          </a:prstGeom>
          <a:solidFill>
            <a:srgbClr val="5EC7A1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4023360" y="1645920"/>
            <a:ext cx="2651760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4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目标服务</a:t>
            </a:r>
            <a:endParaRPr lang="en-US" sz="1040" dirty="0"/>
          </a:p>
        </p:txBody>
      </p:sp>
      <p:sp>
        <p:nvSpPr>
          <p:cNvPr id="13" name="Shape 11"/>
          <p:cNvSpPr/>
          <p:nvPr/>
        </p:nvSpPr>
        <p:spPr>
          <a:xfrm>
            <a:off x="1051560" y="2032000"/>
            <a:ext cx="914400" cy="43180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1097280" y="2077720"/>
            <a:ext cx="822960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F001</a:t>
            </a:r>
            <a:endParaRPr lang="en-US" sz="940" dirty="0"/>
          </a:p>
        </p:txBody>
      </p:sp>
      <p:sp>
        <p:nvSpPr>
          <p:cNvPr id="15" name="Shape 13"/>
          <p:cNvSpPr/>
          <p:nvPr/>
        </p:nvSpPr>
        <p:spPr>
          <a:xfrm>
            <a:off x="1965960" y="2032000"/>
            <a:ext cx="2011680" cy="43180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2011680" y="2077720"/>
            <a:ext cx="1920240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Kill</a:t>
            </a:r>
            <a:endParaRPr lang="en-US" sz="940" dirty="0"/>
          </a:p>
        </p:txBody>
      </p:sp>
      <p:sp>
        <p:nvSpPr>
          <p:cNvPr id="17" name="Shape 15"/>
          <p:cNvSpPr/>
          <p:nvPr/>
        </p:nvSpPr>
        <p:spPr>
          <a:xfrm>
            <a:off x="3977640" y="2032000"/>
            <a:ext cx="2743200" cy="43180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4023360" y="2077720"/>
            <a:ext cx="2651760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coupon-service</a:t>
            </a:r>
            <a:endParaRPr lang="en-US" sz="940" dirty="0"/>
          </a:p>
        </p:txBody>
      </p:sp>
      <p:sp>
        <p:nvSpPr>
          <p:cNvPr id="19" name="Shape 17"/>
          <p:cNvSpPr/>
          <p:nvPr/>
        </p:nvSpPr>
        <p:spPr>
          <a:xfrm>
            <a:off x="1051560" y="2463800"/>
            <a:ext cx="914400" cy="43180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097280" y="2509520"/>
            <a:ext cx="822960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F002</a:t>
            </a:r>
            <a:endParaRPr lang="en-US" sz="940" dirty="0"/>
          </a:p>
        </p:txBody>
      </p:sp>
      <p:sp>
        <p:nvSpPr>
          <p:cNvPr id="21" name="Shape 19"/>
          <p:cNvSpPr/>
          <p:nvPr/>
        </p:nvSpPr>
        <p:spPr>
          <a:xfrm>
            <a:off x="1965960" y="2463800"/>
            <a:ext cx="2011680" cy="43180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2011680" y="2509520"/>
            <a:ext cx="1920240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Kill</a:t>
            </a:r>
            <a:endParaRPr lang="en-US" sz="940" dirty="0"/>
          </a:p>
        </p:txBody>
      </p:sp>
      <p:sp>
        <p:nvSpPr>
          <p:cNvPr id="23" name="Shape 21"/>
          <p:cNvSpPr/>
          <p:nvPr/>
        </p:nvSpPr>
        <p:spPr>
          <a:xfrm>
            <a:off x="3977640" y="2463800"/>
            <a:ext cx="2743200" cy="43180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023360" y="2509520"/>
            <a:ext cx="2651760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inventory-service</a:t>
            </a:r>
            <a:endParaRPr lang="en-US" sz="940" dirty="0"/>
          </a:p>
        </p:txBody>
      </p:sp>
      <p:sp>
        <p:nvSpPr>
          <p:cNvPr id="25" name="Shape 23"/>
          <p:cNvSpPr/>
          <p:nvPr/>
        </p:nvSpPr>
        <p:spPr>
          <a:xfrm>
            <a:off x="1051560" y="2895600"/>
            <a:ext cx="914400" cy="43180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1097280" y="2941320"/>
            <a:ext cx="822960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F003</a:t>
            </a:r>
            <a:endParaRPr lang="en-US" sz="940" dirty="0"/>
          </a:p>
        </p:txBody>
      </p:sp>
      <p:sp>
        <p:nvSpPr>
          <p:cNvPr id="27" name="Shape 25"/>
          <p:cNvSpPr/>
          <p:nvPr/>
        </p:nvSpPr>
        <p:spPr>
          <a:xfrm>
            <a:off x="1965960" y="2895600"/>
            <a:ext cx="2011680" cy="43180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2011680" y="2941320"/>
            <a:ext cx="1920240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Stress</a:t>
            </a:r>
            <a:endParaRPr lang="en-US" sz="940" dirty="0"/>
          </a:p>
        </p:txBody>
      </p:sp>
      <p:sp>
        <p:nvSpPr>
          <p:cNvPr id="29" name="Shape 27"/>
          <p:cNvSpPr/>
          <p:nvPr/>
        </p:nvSpPr>
        <p:spPr>
          <a:xfrm>
            <a:off x="3977640" y="2895600"/>
            <a:ext cx="2743200" cy="43180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4023360" y="2941320"/>
            <a:ext cx="2651760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coupon-service</a:t>
            </a:r>
            <a:endParaRPr lang="en-US" sz="940" dirty="0"/>
          </a:p>
        </p:txBody>
      </p:sp>
      <p:sp>
        <p:nvSpPr>
          <p:cNvPr id="31" name="Shape 29"/>
          <p:cNvSpPr/>
          <p:nvPr/>
        </p:nvSpPr>
        <p:spPr>
          <a:xfrm>
            <a:off x="1051560" y="3327400"/>
            <a:ext cx="914400" cy="43180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1097280" y="3373120"/>
            <a:ext cx="822960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F004</a:t>
            </a:r>
            <a:endParaRPr lang="en-US" sz="940" dirty="0"/>
          </a:p>
        </p:txBody>
      </p:sp>
      <p:sp>
        <p:nvSpPr>
          <p:cNvPr id="33" name="Shape 31"/>
          <p:cNvSpPr/>
          <p:nvPr/>
        </p:nvSpPr>
        <p:spPr>
          <a:xfrm>
            <a:off x="1965960" y="3327400"/>
            <a:ext cx="2011680" cy="43180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2011680" y="3373120"/>
            <a:ext cx="1920240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 Delay</a:t>
            </a:r>
            <a:endParaRPr lang="en-US" sz="940" dirty="0"/>
          </a:p>
        </p:txBody>
      </p:sp>
      <p:sp>
        <p:nvSpPr>
          <p:cNvPr id="35" name="Shape 33"/>
          <p:cNvSpPr/>
          <p:nvPr/>
        </p:nvSpPr>
        <p:spPr>
          <a:xfrm>
            <a:off x="3977640" y="3327400"/>
            <a:ext cx="2743200" cy="43180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4023360" y="3373120"/>
            <a:ext cx="2651760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inventory-service</a:t>
            </a:r>
            <a:endParaRPr lang="en-US" sz="940" dirty="0"/>
          </a:p>
        </p:txBody>
      </p:sp>
      <p:sp>
        <p:nvSpPr>
          <p:cNvPr id="37" name="Shape 35"/>
          <p:cNvSpPr/>
          <p:nvPr/>
        </p:nvSpPr>
        <p:spPr>
          <a:xfrm>
            <a:off x="1051560" y="3759200"/>
            <a:ext cx="914400" cy="43180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6"/>
          <p:cNvSpPr/>
          <p:nvPr/>
        </p:nvSpPr>
        <p:spPr>
          <a:xfrm>
            <a:off x="1097280" y="3804920"/>
            <a:ext cx="822960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F005</a:t>
            </a:r>
            <a:endParaRPr lang="en-US" sz="940" dirty="0"/>
          </a:p>
        </p:txBody>
      </p:sp>
      <p:sp>
        <p:nvSpPr>
          <p:cNvPr id="39" name="Shape 37"/>
          <p:cNvSpPr/>
          <p:nvPr/>
        </p:nvSpPr>
        <p:spPr>
          <a:xfrm>
            <a:off x="1965960" y="3759200"/>
            <a:ext cx="2011680" cy="43180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8"/>
          <p:cNvSpPr/>
          <p:nvPr/>
        </p:nvSpPr>
        <p:spPr>
          <a:xfrm>
            <a:off x="2011680" y="3804920"/>
            <a:ext cx="1920240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 Delay</a:t>
            </a:r>
            <a:endParaRPr lang="en-US" sz="940" dirty="0"/>
          </a:p>
        </p:txBody>
      </p:sp>
      <p:sp>
        <p:nvSpPr>
          <p:cNvPr id="41" name="Shape 39"/>
          <p:cNvSpPr/>
          <p:nvPr/>
        </p:nvSpPr>
        <p:spPr>
          <a:xfrm>
            <a:off x="3977640" y="3759200"/>
            <a:ext cx="2743200" cy="43180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40"/>
          <p:cNvSpPr/>
          <p:nvPr/>
        </p:nvSpPr>
        <p:spPr>
          <a:xfrm>
            <a:off x="4023360" y="3804920"/>
            <a:ext cx="2651760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coupon-service</a:t>
            </a:r>
            <a:endParaRPr lang="en-US" sz="940" dirty="0"/>
          </a:p>
        </p:txBody>
      </p:sp>
      <p:sp>
        <p:nvSpPr>
          <p:cNvPr id="43" name="Shape 41"/>
          <p:cNvSpPr/>
          <p:nvPr/>
        </p:nvSpPr>
        <p:spPr>
          <a:xfrm>
            <a:off x="1051560" y="4191000"/>
            <a:ext cx="914400" cy="43180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2"/>
          <p:cNvSpPr/>
          <p:nvPr/>
        </p:nvSpPr>
        <p:spPr>
          <a:xfrm>
            <a:off x="1097280" y="4236720"/>
            <a:ext cx="822960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F006</a:t>
            </a:r>
            <a:endParaRPr lang="en-US" sz="940" dirty="0"/>
          </a:p>
        </p:txBody>
      </p:sp>
      <p:sp>
        <p:nvSpPr>
          <p:cNvPr id="45" name="Shape 43"/>
          <p:cNvSpPr/>
          <p:nvPr/>
        </p:nvSpPr>
        <p:spPr>
          <a:xfrm>
            <a:off x="1965960" y="4191000"/>
            <a:ext cx="2011680" cy="43180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4"/>
          <p:cNvSpPr/>
          <p:nvPr/>
        </p:nvSpPr>
        <p:spPr>
          <a:xfrm>
            <a:off x="2011680" y="4236720"/>
            <a:ext cx="1920240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Stress</a:t>
            </a:r>
            <a:endParaRPr lang="en-US" sz="940" dirty="0"/>
          </a:p>
        </p:txBody>
      </p:sp>
      <p:sp>
        <p:nvSpPr>
          <p:cNvPr id="47" name="Shape 45"/>
          <p:cNvSpPr/>
          <p:nvPr/>
        </p:nvSpPr>
        <p:spPr>
          <a:xfrm>
            <a:off x="3977640" y="4191000"/>
            <a:ext cx="2743200" cy="43180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8" name="Text 46"/>
          <p:cNvSpPr/>
          <p:nvPr/>
        </p:nvSpPr>
        <p:spPr>
          <a:xfrm>
            <a:off x="4023360" y="4236720"/>
            <a:ext cx="2651760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inventory-service</a:t>
            </a:r>
            <a:endParaRPr lang="en-US" sz="940" dirty="0"/>
          </a:p>
        </p:txBody>
      </p:sp>
      <p:sp>
        <p:nvSpPr>
          <p:cNvPr id="49" name="Shape 47"/>
          <p:cNvSpPr/>
          <p:nvPr/>
        </p:nvSpPr>
        <p:spPr>
          <a:xfrm>
            <a:off x="1051560" y="4622800"/>
            <a:ext cx="914400" cy="43180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0" name="Text 48"/>
          <p:cNvSpPr/>
          <p:nvPr/>
        </p:nvSpPr>
        <p:spPr>
          <a:xfrm>
            <a:off x="1097280" y="4668520"/>
            <a:ext cx="822960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F007</a:t>
            </a:r>
            <a:endParaRPr lang="en-US" sz="940" dirty="0"/>
          </a:p>
        </p:txBody>
      </p:sp>
      <p:sp>
        <p:nvSpPr>
          <p:cNvPr id="51" name="Shape 49"/>
          <p:cNvSpPr/>
          <p:nvPr/>
        </p:nvSpPr>
        <p:spPr>
          <a:xfrm>
            <a:off x="1965960" y="4622800"/>
            <a:ext cx="2011680" cy="43180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2" name="Text 50"/>
          <p:cNvSpPr/>
          <p:nvPr/>
        </p:nvSpPr>
        <p:spPr>
          <a:xfrm>
            <a:off x="2011680" y="4668520"/>
            <a:ext cx="1920240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 Loss</a:t>
            </a:r>
            <a:endParaRPr lang="en-US" sz="940" dirty="0"/>
          </a:p>
        </p:txBody>
      </p:sp>
      <p:sp>
        <p:nvSpPr>
          <p:cNvPr id="53" name="Shape 51"/>
          <p:cNvSpPr/>
          <p:nvPr/>
        </p:nvSpPr>
        <p:spPr>
          <a:xfrm>
            <a:off x="3977640" y="4622800"/>
            <a:ext cx="2743200" cy="43180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4" name="Text 52"/>
          <p:cNvSpPr/>
          <p:nvPr/>
        </p:nvSpPr>
        <p:spPr>
          <a:xfrm>
            <a:off x="4023360" y="4668520"/>
            <a:ext cx="2651760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coupon-service</a:t>
            </a:r>
            <a:endParaRPr lang="en-US" sz="940" dirty="0"/>
          </a:p>
        </p:txBody>
      </p:sp>
      <p:sp>
        <p:nvSpPr>
          <p:cNvPr id="55" name="Shape 53"/>
          <p:cNvSpPr/>
          <p:nvPr/>
        </p:nvSpPr>
        <p:spPr>
          <a:xfrm>
            <a:off x="1051560" y="5054600"/>
            <a:ext cx="914400" cy="43180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6" name="Text 54"/>
          <p:cNvSpPr/>
          <p:nvPr/>
        </p:nvSpPr>
        <p:spPr>
          <a:xfrm>
            <a:off x="1097280" y="5100320"/>
            <a:ext cx="822960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F008</a:t>
            </a:r>
            <a:endParaRPr lang="en-US" sz="940" dirty="0"/>
          </a:p>
        </p:txBody>
      </p:sp>
      <p:sp>
        <p:nvSpPr>
          <p:cNvPr id="57" name="Shape 55"/>
          <p:cNvSpPr/>
          <p:nvPr/>
        </p:nvSpPr>
        <p:spPr>
          <a:xfrm>
            <a:off x="1965960" y="5054600"/>
            <a:ext cx="2011680" cy="43180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8" name="Text 56"/>
          <p:cNvSpPr/>
          <p:nvPr/>
        </p:nvSpPr>
        <p:spPr>
          <a:xfrm>
            <a:off x="2011680" y="5100320"/>
            <a:ext cx="1920240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 Loss</a:t>
            </a:r>
            <a:endParaRPr lang="en-US" sz="940" dirty="0"/>
          </a:p>
        </p:txBody>
      </p:sp>
      <p:sp>
        <p:nvSpPr>
          <p:cNvPr id="59" name="Shape 57"/>
          <p:cNvSpPr/>
          <p:nvPr/>
        </p:nvSpPr>
        <p:spPr>
          <a:xfrm>
            <a:off x="3977640" y="5054600"/>
            <a:ext cx="2743200" cy="431800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0" name="Text 58"/>
          <p:cNvSpPr/>
          <p:nvPr/>
        </p:nvSpPr>
        <p:spPr>
          <a:xfrm>
            <a:off x="4023360" y="5100320"/>
            <a:ext cx="2651760" cy="340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inventory-service</a:t>
            </a:r>
            <a:endParaRPr lang="en-US" sz="940" dirty="0"/>
          </a:p>
        </p:txBody>
      </p:sp>
      <p:sp>
        <p:nvSpPr>
          <p:cNvPr id="61" name="Shape 59"/>
          <p:cNvSpPr/>
          <p:nvPr/>
        </p:nvSpPr>
        <p:spPr>
          <a:xfrm>
            <a:off x="7909560" y="1325880"/>
            <a:ext cx="3291840" cy="4480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62" name="Text 60"/>
          <p:cNvSpPr/>
          <p:nvPr/>
        </p:nvSpPr>
        <p:spPr>
          <a:xfrm>
            <a:off x="8183880" y="1600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记录内容</a:t>
            </a:r>
            <a:endParaRPr lang="en-US" sz="1400" dirty="0"/>
          </a:p>
        </p:txBody>
      </p:sp>
      <p:sp>
        <p:nvSpPr>
          <p:cNvPr id="63" name="Text 61"/>
          <p:cNvSpPr/>
          <p:nvPr/>
        </p:nvSpPr>
        <p:spPr>
          <a:xfrm>
            <a:off x="8156448" y="2011680"/>
            <a:ext cx="256032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故障名称</a:t>
            </a:r>
            <a:endParaRPr lang="en-US" sz="1120" dirty="0"/>
          </a:p>
          <a:p>
            <a:r>
              <a:rPr lang="en-US" sz="11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目标服务</a:t>
            </a:r>
            <a:endParaRPr lang="en-US" sz="1120" dirty="0"/>
          </a:p>
          <a:p>
            <a:r>
              <a:rPr lang="en-US" sz="11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开始与结束时间</a:t>
            </a:r>
            <a:endParaRPr lang="en-US" sz="1120" dirty="0"/>
          </a:p>
          <a:p>
            <a:r>
              <a:rPr lang="en-US" sz="11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 YAML</a:t>
            </a:r>
            <a:endParaRPr lang="en-US" sz="1120" dirty="0"/>
          </a:p>
          <a:p>
            <a:r>
              <a:rPr lang="en-US" sz="11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页面现象</a:t>
            </a:r>
            <a:endParaRPr lang="en-US" sz="1120" dirty="0"/>
          </a:p>
          <a:p>
            <a:r>
              <a:rPr lang="en-US" sz="11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Grafana 指标变化</a:t>
            </a:r>
            <a:endParaRPr lang="en-US" sz="1120" dirty="0"/>
          </a:p>
          <a:p>
            <a:r>
              <a:rPr lang="en-US" sz="11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恢复情况</a:t>
            </a:r>
            <a:endParaRPr lang="en-US" sz="1120" dirty="0"/>
          </a:p>
        </p:txBody>
      </p:sp>
      <p:sp>
        <p:nvSpPr>
          <p:cNvPr id="64" name="Text 62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7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ChaosMesh - Pod Kill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Kill 故障：验证容器重启与短时失败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Kill 直接作用于服务实例，适合制造重启计数和错误率波动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731520" y="1298448"/>
            <a:ext cx="3429000" cy="43434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/mnt/data/report_assets/p26_img04_1215x111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844650"/>
            <a:ext cx="3209544" cy="294010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5385816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F001 Pod Kill YAML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4370832" y="1298448"/>
            <a:ext cx="342900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1" descr="/mnt/data/report_assets/p25_img02_1074x262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480560" y="1460179"/>
            <a:ext cx="3209544" cy="782961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07992" y="2459736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实验创建成功</a:t>
            </a:r>
            <a:endParaRPr lang="en-US" sz="780" dirty="0"/>
          </a:p>
        </p:txBody>
      </p:sp>
      <p:sp>
        <p:nvSpPr>
          <p:cNvPr id="12" name="Shape 8"/>
          <p:cNvSpPr/>
          <p:nvPr/>
        </p:nvSpPr>
        <p:spPr>
          <a:xfrm>
            <a:off x="4370832" y="3063240"/>
            <a:ext cx="3429000" cy="2578608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2" descr="/mnt/data/report_assets/p26_img02_1093x43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80560" y="3561354"/>
            <a:ext cx="3209544" cy="1271484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507992" y="5385816"/>
            <a:ext cx="31546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实验详情</a:t>
            </a:r>
            <a:endParaRPr lang="en-US" sz="780" dirty="0"/>
          </a:p>
        </p:txBody>
      </p:sp>
      <p:sp>
        <p:nvSpPr>
          <p:cNvPr id="15" name="Shape 10"/>
          <p:cNvSpPr/>
          <p:nvPr/>
        </p:nvSpPr>
        <p:spPr>
          <a:xfrm>
            <a:off x="8046720" y="1298448"/>
            <a:ext cx="3337560" cy="4343400"/>
          </a:xfrm>
          <a:prstGeom prst="roundRect">
            <a:avLst>
              <a:gd name="adj" fmla="val 3288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1"/>
          <p:cNvSpPr/>
          <p:nvPr/>
        </p:nvSpPr>
        <p:spPr>
          <a:xfrm>
            <a:off x="8275320" y="1600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观测重点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275320" y="2011680"/>
            <a:ext cx="2606040" cy="2011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restart_count 上升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短时请求失败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 重新创建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服务恢复后指标回落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适合触发根因定位中的直接证据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21</a:t>
            </a:r>
            <a:endParaRPr lang="en-US" sz="7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ChaosMesh - Stress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资源压力故障：CPU 与内存扰动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资源压力用于制造延迟上升、吞吐下降和服务响应抖动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4983480" cy="1417320"/>
          </a:xfrm>
          <a:prstGeom prst="roundRect">
            <a:avLst>
              <a:gd name="adj" fmla="val 7742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/mnt/data/report_assets/p27_img02_1008x17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1248" y="1458459"/>
            <a:ext cx="4764024" cy="8412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68680" y="2487168"/>
            <a:ext cx="4709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F003 CPU Stress 创建成功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731520" y="3063240"/>
            <a:ext cx="4983480" cy="260604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1" descr="/mnt/data/report_assets/p27_img03_1368x1266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101798" y="3172968"/>
            <a:ext cx="2242924" cy="20756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868680" y="5413248"/>
            <a:ext cx="4709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Stress 详情</a:t>
            </a:r>
            <a:endParaRPr lang="en-US" sz="780" dirty="0"/>
          </a:p>
        </p:txBody>
      </p:sp>
      <p:sp>
        <p:nvSpPr>
          <p:cNvPr id="12" name="Shape 8"/>
          <p:cNvSpPr/>
          <p:nvPr/>
        </p:nvSpPr>
        <p:spPr>
          <a:xfrm>
            <a:off x="6080760" y="1325880"/>
            <a:ext cx="5257800" cy="4343400"/>
          </a:xfrm>
          <a:prstGeom prst="roundRect">
            <a:avLst>
              <a:gd name="adj" fmla="val 2526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/>
          <p:cNvSpPr/>
          <p:nvPr/>
        </p:nvSpPr>
        <p:spPr>
          <a:xfrm>
            <a:off x="6355080" y="1600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指标响应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6355080" y="2225650"/>
            <a:ext cx="19659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 使用率</a:t>
            </a:r>
            <a:endParaRPr lang="en-US" sz="880" dirty="0"/>
          </a:p>
        </p:txBody>
      </p:sp>
      <p:sp>
        <p:nvSpPr>
          <p:cNvPr id="15" name="Shape 11"/>
          <p:cNvSpPr/>
          <p:nvPr/>
        </p:nvSpPr>
        <p:spPr>
          <a:xfrm>
            <a:off x="8439912" y="2271735"/>
            <a:ext cx="1737360" cy="128016"/>
          </a:xfrm>
          <a:prstGeom prst="roundRect">
            <a:avLst>
              <a:gd name="adj" fmla="val 28571"/>
            </a:avLst>
          </a:prstGeom>
          <a:solidFill>
            <a:srgbClr val="5EC7A1"/>
          </a:solidFill>
          <a:ln w="12700">
            <a:solidFill>
              <a:srgbClr val="5EC7A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2"/>
          <p:cNvSpPr/>
          <p:nvPr/>
        </p:nvSpPr>
        <p:spPr>
          <a:xfrm>
            <a:off x="10287000" y="2217969"/>
            <a:ext cx="5943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100%</a:t>
            </a:r>
            <a:endParaRPr lang="en-US" sz="880" dirty="0"/>
          </a:p>
        </p:txBody>
      </p:sp>
      <p:sp>
        <p:nvSpPr>
          <p:cNvPr id="17" name="Text 13"/>
          <p:cNvSpPr/>
          <p:nvPr/>
        </p:nvSpPr>
        <p:spPr>
          <a:xfrm>
            <a:off x="6355080" y="2609698"/>
            <a:ext cx="19659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平均延迟</a:t>
            </a:r>
            <a:endParaRPr lang="en-US" sz="880" dirty="0"/>
          </a:p>
        </p:txBody>
      </p:sp>
      <p:sp>
        <p:nvSpPr>
          <p:cNvPr id="18" name="Shape 14"/>
          <p:cNvSpPr/>
          <p:nvPr/>
        </p:nvSpPr>
        <p:spPr>
          <a:xfrm>
            <a:off x="8439912" y="2655783"/>
            <a:ext cx="1250899" cy="128016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5"/>
          <p:cNvSpPr/>
          <p:nvPr/>
        </p:nvSpPr>
        <p:spPr>
          <a:xfrm>
            <a:off x="10287000" y="2602017"/>
            <a:ext cx="5943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72%</a:t>
            </a:r>
            <a:endParaRPr lang="en-US" sz="880" dirty="0"/>
          </a:p>
        </p:txBody>
      </p:sp>
      <p:sp>
        <p:nvSpPr>
          <p:cNvPr id="20" name="Text 16"/>
          <p:cNvSpPr/>
          <p:nvPr/>
        </p:nvSpPr>
        <p:spPr>
          <a:xfrm>
            <a:off x="6355080" y="2993746"/>
            <a:ext cx="19659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P95 延迟</a:t>
            </a:r>
            <a:endParaRPr lang="en-US" sz="880" dirty="0"/>
          </a:p>
        </p:txBody>
      </p:sp>
      <p:sp>
        <p:nvSpPr>
          <p:cNvPr id="21" name="Shape 17"/>
          <p:cNvSpPr/>
          <p:nvPr/>
        </p:nvSpPr>
        <p:spPr>
          <a:xfrm>
            <a:off x="8439912" y="3039831"/>
            <a:ext cx="1494130" cy="128016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8"/>
          <p:cNvSpPr/>
          <p:nvPr/>
        </p:nvSpPr>
        <p:spPr>
          <a:xfrm>
            <a:off x="10287000" y="2986065"/>
            <a:ext cx="5943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86%</a:t>
            </a:r>
            <a:endParaRPr lang="en-US" sz="880" dirty="0"/>
          </a:p>
        </p:txBody>
      </p:sp>
      <p:sp>
        <p:nvSpPr>
          <p:cNvPr id="23" name="Text 19"/>
          <p:cNvSpPr/>
          <p:nvPr/>
        </p:nvSpPr>
        <p:spPr>
          <a:xfrm>
            <a:off x="6355080" y="3377794"/>
            <a:ext cx="19659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错误率</a:t>
            </a:r>
            <a:endParaRPr lang="en-US" sz="880" dirty="0"/>
          </a:p>
        </p:txBody>
      </p:sp>
      <p:sp>
        <p:nvSpPr>
          <p:cNvPr id="24" name="Shape 20"/>
          <p:cNvSpPr/>
          <p:nvPr/>
        </p:nvSpPr>
        <p:spPr>
          <a:xfrm>
            <a:off x="8439912" y="3423879"/>
            <a:ext cx="781812" cy="128016"/>
          </a:xfrm>
          <a:prstGeom prst="roundRect">
            <a:avLst>
              <a:gd name="adj" fmla="val 28571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1"/>
          <p:cNvSpPr/>
          <p:nvPr/>
        </p:nvSpPr>
        <p:spPr>
          <a:xfrm>
            <a:off x="10287000" y="3370113"/>
            <a:ext cx="5943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45%</a:t>
            </a:r>
            <a:endParaRPr lang="en-US" sz="880" dirty="0"/>
          </a:p>
        </p:txBody>
      </p:sp>
      <p:sp>
        <p:nvSpPr>
          <p:cNvPr id="26" name="Text 22"/>
          <p:cNvSpPr/>
          <p:nvPr/>
        </p:nvSpPr>
        <p:spPr>
          <a:xfrm>
            <a:off x="6355080" y="3761842"/>
            <a:ext cx="19659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吞吐量下降</a:t>
            </a:r>
            <a:endParaRPr lang="en-US" sz="880" dirty="0"/>
          </a:p>
        </p:txBody>
      </p:sp>
      <p:sp>
        <p:nvSpPr>
          <p:cNvPr id="27" name="Shape 23"/>
          <p:cNvSpPr/>
          <p:nvPr/>
        </p:nvSpPr>
        <p:spPr>
          <a:xfrm>
            <a:off x="8439912" y="3807927"/>
            <a:ext cx="608076" cy="128016"/>
          </a:xfrm>
          <a:prstGeom prst="roundRect">
            <a:avLst>
              <a:gd name="adj" fmla="val 28571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4"/>
          <p:cNvSpPr/>
          <p:nvPr/>
        </p:nvSpPr>
        <p:spPr>
          <a:xfrm>
            <a:off x="10287000" y="3754161"/>
            <a:ext cx="5943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35%</a:t>
            </a:r>
            <a:endParaRPr lang="en-US" sz="880" dirty="0"/>
          </a:p>
        </p:txBody>
      </p:sp>
      <p:sp>
        <p:nvSpPr>
          <p:cNvPr id="29" name="Text 25"/>
          <p:cNvSpPr/>
          <p:nvPr/>
        </p:nvSpPr>
        <p:spPr>
          <a:xfrm>
            <a:off x="6355080" y="4773168"/>
            <a:ext cx="4389120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0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资源类故障不一定直接造成 Pod 重启，但会改变服务响应时间和尾延迟，是异常检测的重要输入。</a:t>
            </a:r>
            <a:endParaRPr lang="en-US" sz="1080" dirty="0"/>
          </a:p>
        </p:txBody>
      </p:sp>
      <p:sp>
        <p:nvSpPr>
          <p:cNvPr id="30" name="Text 26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22</a:t>
            </a:r>
            <a:endParaRPr lang="en-US" sz="7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ChaosMesh - Network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网络故障：Delay 与 Loss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网络类故障主要影响 P95/P99 尾延迟、错误率和上下游调用链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3337560" cy="192024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/mnt/data/report_assets/p26_img02_1093x43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5528" y="1558642"/>
            <a:ext cx="3118104" cy="123526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035808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 Delay 实验详情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4160520" y="1371600"/>
            <a:ext cx="33375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1" descr="/mnt/data/report_assets/p27_img04_1158x118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70248" y="1537345"/>
            <a:ext cx="3118104" cy="31773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297680" y="2075688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 Loss 详情</a:t>
            </a:r>
            <a:endParaRPr lang="en-US" sz="780" dirty="0"/>
          </a:p>
        </p:txBody>
      </p:sp>
      <p:sp>
        <p:nvSpPr>
          <p:cNvPr id="12" name="Shape 8"/>
          <p:cNvSpPr/>
          <p:nvPr/>
        </p:nvSpPr>
        <p:spPr>
          <a:xfrm>
            <a:off x="4160520" y="2578608"/>
            <a:ext cx="3337560" cy="96012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2" descr="/mnt/data/report_assets/p27_img05_1176x109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270248" y="2758716"/>
            <a:ext cx="3118104" cy="28900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297680" y="3282696"/>
            <a:ext cx="30632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 Loss 清理完成</a:t>
            </a:r>
            <a:endParaRPr lang="en-US" sz="780" dirty="0"/>
          </a:p>
        </p:txBody>
      </p:sp>
      <p:sp>
        <p:nvSpPr>
          <p:cNvPr id="15" name="Shape 10"/>
          <p:cNvSpPr/>
          <p:nvPr/>
        </p:nvSpPr>
        <p:spPr>
          <a:xfrm>
            <a:off x="7818120" y="1371600"/>
            <a:ext cx="3520440" cy="3474720"/>
          </a:xfrm>
          <a:prstGeom prst="roundRect">
            <a:avLst>
              <a:gd name="adj" fmla="val 3158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1"/>
          <p:cNvSpPr/>
          <p:nvPr/>
        </p:nvSpPr>
        <p:spPr>
          <a:xfrm>
            <a:off x="8092440" y="164592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典型现象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8065008" y="2057400"/>
            <a:ext cx="269748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请求耗时拉长</a:t>
            </a:r>
            <a:endParaRPr lang="en-US" sz="1120" dirty="0"/>
          </a:p>
          <a:p>
            <a:r>
              <a:rPr lang="en-US" sz="11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P95/P99 延迟抬升</a:t>
            </a:r>
            <a:endParaRPr lang="en-US" sz="1120" dirty="0"/>
          </a:p>
          <a:p>
            <a:r>
              <a:rPr lang="en-US" sz="11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错误率增加</a:t>
            </a:r>
            <a:endParaRPr lang="en-US" sz="1120" dirty="0"/>
          </a:p>
          <a:p>
            <a:r>
              <a:rPr lang="en-US" sz="11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下游影响沿调用链扩散</a:t>
            </a:r>
            <a:endParaRPr lang="en-US" sz="1120" dirty="0"/>
          </a:p>
          <a:p>
            <a:r>
              <a:rPr lang="en-US" sz="11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恢复后尾延迟逐步回落</a:t>
            </a:r>
            <a:endParaRPr lang="en-US" sz="1120" dirty="0"/>
          </a:p>
        </p:txBody>
      </p:sp>
      <p:sp>
        <p:nvSpPr>
          <p:cNvPr id="18" name="Text 13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23</a:t>
            </a:r>
            <a:endParaRPr lang="en-US" sz="7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Fault Labeling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故障窗口标注：把现象转为可训练数据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ChaosMesh 实验记录与 Prometheus 指标按时间窗口合并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16383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50392" y="1490472"/>
            <a:ext cx="14919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故障配置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33828" y="1746504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2580132" y="1417320"/>
            <a:ext cx="16383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653284" y="1490472"/>
            <a:ext cx="14919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记录起止时间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36720" y="1746504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383024" y="1417320"/>
            <a:ext cx="16383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456176" y="1490472"/>
            <a:ext cx="14919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Prometheus 导出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9612" y="1746504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185916" y="1417320"/>
            <a:ext cx="16383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259068" y="1490472"/>
            <a:ext cx="14919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窗口对齐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842504" y="1746504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7988808" y="1417320"/>
            <a:ext cx="16383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061960" y="1490472"/>
            <a:ext cx="14919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fault_phase 标注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45396" y="1746504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9791700" y="1417320"/>
            <a:ext cx="1638300" cy="658368"/>
          </a:xfrm>
          <a:prstGeom prst="roundRect">
            <a:avLst>
              <a:gd name="adj" fmla="val 16667"/>
            </a:avLst>
          </a:prstGeom>
          <a:solidFill>
            <a:srgbClr val="EAF8F4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9864852" y="1490472"/>
            <a:ext cx="14919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CSV 合并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777240" y="251460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960120" y="26700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label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2514600" y="2660904"/>
            <a:ext cx="1325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 正常 / 1 故障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4480560" y="251460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4663440" y="26700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fault_type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17920" y="2660904"/>
            <a:ext cx="1325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700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pod_kill / cpu_stress / memory_stress / network_delay</a:t>
            </a:r>
            <a:endParaRPr lang="en-US" sz="920" dirty="0"/>
          </a:p>
        </p:txBody>
      </p:sp>
      <p:sp>
        <p:nvSpPr>
          <p:cNvPr id="29" name="Shape 27"/>
          <p:cNvSpPr/>
          <p:nvPr/>
        </p:nvSpPr>
        <p:spPr>
          <a:xfrm>
            <a:off x="8183880" y="251460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8366760" y="267004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fault_service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9921240" y="2660904"/>
            <a:ext cx="1325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被注入故障服务</a:t>
            </a:r>
            <a:endParaRPr lang="en-US" sz="920" dirty="0"/>
          </a:p>
        </p:txBody>
      </p:sp>
      <p:sp>
        <p:nvSpPr>
          <p:cNvPr id="32" name="Shape 30"/>
          <p:cNvSpPr/>
          <p:nvPr/>
        </p:nvSpPr>
        <p:spPr>
          <a:xfrm>
            <a:off x="777240" y="374904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960120" y="39044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fault_phase</a:t>
            </a:r>
            <a:endParaRPr lang="en-US" sz="1400" dirty="0"/>
          </a:p>
        </p:txBody>
      </p:sp>
      <p:sp>
        <p:nvSpPr>
          <p:cNvPr id="34" name="Text 32"/>
          <p:cNvSpPr/>
          <p:nvPr/>
        </p:nvSpPr>
        <p:spPr>
          <a:xfrm>
            <a:off x="2514600" y="3895344"/>
            <a:ext cx="1325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pre_fault / during_fault / post_fault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4480560" y="374904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4"/>
          <p:cNvSpPr/>
          <p:nvPr/>
        </p:nvSpPr>
        <p:spPr>
          <a:xfrm>
            <a:off x="4663440" y="39044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experiment_id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6217920" y="3895344"/>
            <a:ext cx="1325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故障实验编号</a:t>
            </a:r>
            <a:endParaRPr lang="en-US" sz="920" dirty="0"/>
          </a:p>
        </p:txBody>
      </p:sp>
      <p:sp>
        <p:nvSpPr>
          <p:cNvPr id="38" name="Shape 36"/>
          <p:cNvSpPr/>
          <p:nvPr/>
        </p:nvSpPr>
        <p:spPr>
          <a:xfrm>
            <a:off x="8183880" y="3749040"/>
            <a:ext cx="3246120" cy="868680"/>
          </a:xfrm>
          <a:prstGeom prst="roundRect">
            <a:avLst>
              <a:gd name="adj" fmla="val 12632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8366760" y="3904488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run_id</a:t>
            </a:r>
            <a:endParaRPr lang="en-US" sz="1400" dirty="0"/>
          </a:p>
        </p:txBody>
      </p:sp>
      <p:sp>
        <p:nvSpPr>
          <p:cNvPr id="40" name="Text 38"/>
          <p:cNvSpPr/>
          <p:nvPr/>
        </p:nvSpPr>
        <p:spPr>
          <a:xfrm>
            <a:off x="9921240" y="3895344"/>
            <a:ext cx="13258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一次运行记录</a:t>
            </a:r>
            <a:endParaRPr lang="en-US" sz="920" dirty="0"/>
          </a:p>
        </p:txBody>
      </p:sp>
      <p:sp>
        <p:nvSpPr>
          <p:cNvPr id="41" name="Text 39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7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Selenium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Selenium 功能测试设计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 Online-Boutique 前端主业务链，新增服务通过 API 压测补充验证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777240" y="1444752"/>
            <a:ext cx="16383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50392" y="1517904"/>
            <a:ext cx="14919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打开首页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33828" y="1773936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2580132" y="1444752"/>
            <a:ext cx="16383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2653284" y="1517904"/>
            <a:ext cx="14919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进入商品详情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236720" y="1773936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4383024" y="1444752"/>
            <a:ext cx="16383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456176" y="1517904"/>
            <a:ext cx="14919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加入购物车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039612" y="1773936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6185916" y="1444752"/>
            <a:ext cx="16383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6259068" y="1517904"/>
            <a:ext cx="14919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打开购物车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7842504" y="1773936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7988808" y="1444752"/>
            <a:ext cx="1638300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8061960" y="1517904"/>
            <a:ext cx="14919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填写结账信息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9645396" y="1773936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Shape 19"/>
          <p:cNvSpPr/>
          <p:nvPr/>
        </p:nvSpPr>
        <p:spPr>
          <a:xfrm>
            <a:off x="9791700" y="1444752"/>
            <a:ext cx="1638300" cy="658368"/>
          </a:xfrm>
          <a:prstGeom prst="roundRect">
            <a:avLst>
              <a:gd name="adj" fmla="val 16667"/>
            </a:avLst>
          </a:prstGeom>
          <a:solidFill>
            <a:srgbClr val="EAF8F4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9864852" y="1517904"/>
            <a:ext cx="149199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提交订单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868680" y="2514600"/>
            <a:ext cx="466344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1097280" y="27614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覆盖目标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078992" y="3154680"/>
            <a:ext cx="3840480" cy="12801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页面可访问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按钮点击有效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商品详情加载正常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购物车状态正确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结账表单可填写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5989320" y="2514600"/>
            <a:ext cx="5212080" cy="2423160"/>
          </a:xfrm>
          <a:prstGeom prst="roundRect">
            <a:avLst>
              <a:gd name="adj" fmla="val 4528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6263640" y="2761488"/>
            <a:ext cx="1645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测试策略</a:t>
            </a:r>
            <a:endParaRPr lang="en-US" sz="1400" dirty="0"/>
          </a:p>
        </p:txBody>
      </p:sp>
      <p:sp>
        <p:nvSpPr>
          <p:cNvPr id="28" name="Text 26"/>
          <p:cNvSpPr/>
          <p:nvPr/>
        </p:nvSpPr>
        <p:spPr>
          <a:xfrm>
            <a:off x="6245352" y="3154680"/>
            <a:ext cx="429768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前端主链路由 Selenium 验证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优惠券/库存无前端输入框，采用 API 保底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Selenium 结果写入 results/testing/selenium_result.md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</a:t>
            </a:r>
            <a:endParaRPr lang="en-US" sz="7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Selenium Evidence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Selenium 测试展示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真实用户操作链路可以从首页走到结账完成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58368" y="1298448"/>
            <a:ext cx="3456432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/mnt/data/report_assets/p28_img02_2139x12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173" y="1408176"/>
            <a:ext cx="2316821" cy="1344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528" y="2916936"/>
            <a:ext cx="3182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首页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4370832" y="1298448"/>
            <a:ext cx="3456432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1" descr="/mnt/data/report_assets/p29_img02_2139x12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0637" y="1408176"/>
            <a:ext cx="2316821" cy="1344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07992" y="2916936"/>
            <a:ext cx="3182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商品详情</a:t>
            </a:r>
            <a:endParaRPr lang="en-US" sz="780" dirty="0"/>
          </a:p>
        </p:txBody>
      </p:sp>
      <p:sp>
        <p:nvSpPr>
          <p:cNvPr id="12" name="Shape 8"/>
          <p:cNvSpPr/>
          <p:nvPr/>
        </p:nvSpPr>
        <p:spPr>
          <a:xfrm>
            <a:off x="8083296" y="1298448"/>
            <a:ext cx="3456432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2" descr="/mnt/data/report_assets/p29_img03_2139x124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53101" y="1408176"/>
            <a:ext cx="2316821" cy="1344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0456" y="2916936"/>
            <a:ext cx="3182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购物车</a:t>
            </a:r>
            <a:endParaRPr lang="en-US" sz="780" dirty="0"/>
          </a:p>
        </p:txBody>
      </p:sp>
      <p:sp>
        <p:nvSpPr>
          <p:cNvPr id="15" name="Shape 10"/>
          <p:cNvSpPr/>
          <p:nvPr/>
        </p:nvSpPr>
        <p:spPr>
          <a:xfrm>
            <a:off x="658368" y="3584448"/>
            <a:ext cx="3456432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3" descr="/mnt/data/report_assets/p30_img02_2139x1241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8173" y="3694176"/>
            <a:ext cx="2316821" cy="134416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795528" y="5202936"/>
            <a:ext cx="3182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结账信息</a:t>
            </a:r>
            <a:endParaRPr lang="en-US" sz="780" dirty="0"/>
          </a:p>
        </p:txBody>
      </p:sp>
      <p:sp>
        <p:nvSpPr>
          <p:cNvPr id="18" name="Shape 12"/>
          <p:cNvSpPr/>
          <p:nvPr/>
        </p:nvSpPr>
        <p:spPr>
          <a:xfrm>
            <a:off x="4370832" y="3584448"/>
            <a:ext cx="3456432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9" name="Image 4" descr="/mnt/data/report_assets/p30_img03_2139x1241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40637" y="3694176"/>
            <a:ext cx="2316821" cy="1344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4507992" y="5202936"/>
            <a:ext cx="3182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订单完成</a:t>
            </a:r>
            <a:endParaRPr lang="en-US" sz="780" dirty="0"/>
          </a:p>
        </p:txBody>
      </p:sp>
      <p:sp>
        <p:nvSpPr>
          <p:cNvPr id="21" name="Shape 14"/>
          <p:cNvSpPr/>
          <p:nvPr/>
        </p:nvSpPr>
        <p:spPr>
          <a:xfrm>
            <a:off x="8083296" y="3584448"/>
            <a:ext cx="3456432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5"/>
          <p:cNvSpPr/>
          <p:nvPr/>
        </p:nvSpPr>
        <p:spPr>
          <a:xfrm>
            <a:off x="8321040" y="3886200"/>
            <a:ext cx="1463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结果说明</a:t>
            </a:r>
            <a:endParaRPr lang="en-US" sz="1400" dirty="0"/>
          </a:p>
        </p:txBody>
      </p:sp>
      <p:sp>
        <p:nvSpPr>
          <p:cNvPr id="23" name="Text 16"/>
          <p:cNvSpPr/>
          <p:nvPr/>
        </p:nvSpPr>
        <p:spPr>
          <a:xfrm>
            <a:off x="8302752" y="4279392"/>
            <a:ext cx="26517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页面加载稳定</a:t>
            </a:r>
            <a:endParaRPr lang="en-US" sz="1080" dirty="0"/>
          </a:p>
          <a:p>
            <a:r>
              <a:rPr lang="en-US" sz="10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操作链路闭合</a:t>
            </a:r>
            <a:endParaRPr lang="en-US" sz="1080" dirty="0"/>
          </a:p>
          <a:p>
            <a:r>
              <a:rPr lang="en-US" sz="10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可作为 JMeter 压测前功能验收</a:t>
            </a:r>
            <a:endParaRPr lang="en-US" sz="1080" dirty="0"/>
          </a:p>
        </p:txBody>
      </p:sp>
      <p:sp>
        <p:nvSpPr>
          <p:cNvPr id="24" name="Text 17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26</a:t>
            </a:r>
            <a:endParaRPr lang="en-US" sz="7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JMeter Design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JMeter 性能测试设计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 frontend、coupon-service 和 inventory-service 进行四档并发压测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749808" y="1417320"/>
            <a:ext cx="32461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960120" y="16642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frontend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60120" y="2066544"/>
            <a:ext cx="2560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/、/product/OLJCESPC7Z、/cart</a:t>
            </a:r>
            <a:endParaRPr lang="en-US" sz="960" dirty="0"/>
          </a:p>
        </p:txBody>
      </p:sp>
      <p:sp>
        <p:nvSpPr>
          <p:cNvPr id="9" name="Shape 7"/>
          <p:cNvSpPr/>
          <p:nvPr/>
        </p:nvSpPr>
        <p:spPr>
          <a:xfrm>
            <a:off x="4544568" y="1417320"/>
            <a:ext cx="32461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754880" y="16642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coupon-service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4754880" y="2066544"/>
            <a:ext cx="2560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/health、/coupons、/coupons/validate</a:t>
            </a:r>
            <a:endParaRPr lang="en-US" sz="960" dirty="0"/>
          </a:p>
        </p:txBody>
      </p:sp>
      <p:sp>
        <p:nvSpPr>
          <p:cNvPr id="12" name="Shape 10"/>
          <p:cNvSpPr/>
          <p:nvPr/>
        </p:nvSpPr>
        <p:spPr>
          <a:xfrm>
            <a:off x="8339328" y="1417320"/>
            <a:ext cx="3246120" cy="1325880"/>
          </a:xfrm>
          <a:prstGeom prst="roundRect">
            <a:avLst>
              <a:gd name="adj" fmla="val 8276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8549640" y="16642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inventory-service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8549640" y="2066544"/>
            <a:ext cx="2560320" cy="274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>
              <a:buNone/>
            </a:pPr>
            <a:r>
              <a:rPr lang="en-US" sz="96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/health、/inventory、/inventory/{product_id}</a:t>
            </a:r>
            <a:endParaRPr lang="en-US" sz="960" dirty="0"/>
          </a:p>
        </p:txBody>
      </p:sp>
      <p:sp>
        <p:nvSpPr>
          <p:cNvPr id="15" name="Shape 13"/>
          <p:cNvSpPr/>
          <p:nvPr/>
        </p:nvSpPr>
        <p:spPr>
          <a:xfrm>
            <a:off x="960120" y="3246120"/>
            <a:ext cx="10149840" cy="1965960"/>
          </a:xfrm>
          <a:prstGeom prst="roundRect">
            <a:avLst>
              <a:gd name="adj" fmla="val 5581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1280160" y="3733038"/>
            <a:ext cx="19659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用户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3364992" y="3767328"/>
            <a:ext cx="621792" cy="128016"/>
          </a:xfrm>
          <a:prstGeom prst="roundRect">
            <a:avLst>
              <a:gd name="adj" fmla="val 28571"/>
            </a:avLst>
          </a:prstGeom>
          <a:solidFill>
            <a:srgbClr val="5EC7A1"/>
          </a:solidFill>
          <a:ln w="12700">
            <a:solidFill>
              <a:srgbClr val="5EC7A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9692640" y="3727323"/>
            <a:ext cx="5943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1280160" y="4018788"/>
            <a:ext cx="19659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用户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3364992" y="4053078"/>
            <a:ext cx="1865376" cy="128016"/>
          </a:xfrm>
          <a:prstGeom prst="roundRect">
            <a:avLst>
              <a:gd name="adj" fmla="val 28571"/>
            </a:avLst>
          </a:prstGeom>
          <a:solidFill>
            <a:srgbClr val="5EC7A1"/>
          </a:solidFill>
          <a:ln w="12700">
            <a:solidFill>
              <a:srgbClr val="5EC7A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9692640" y="4013073"/>
            <a:ext cx="5943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880" dirty="0"/>
          </a:p>
        </p:txBody>
      </p:sp>
      <p:sp>
        <p:nvSpPr>
          <p:cNvPr id="22" name="Text 20"/>
          <p:cNvSpPr/>
          <p:nvPr/>
        </p:nvSpPr>
        <p:spPr>
          <a:xfrm>
            <a:off x="1280160" y="4304538"/>
            <a:ext cx="19659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用户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3364992" y="4338828"/>
            <a:ext cx="3108960" cy="128016"/>
          </a:xfrm>
          <a:prstGeom prst="roundRect">
            <a:avLst>
              <a:gd name="adj" fmla="val 28571"/>
            </a:avLst>
          </a:prstGeom>
          <a:solidFill>
            <a:srgbClr val="5EC7A1"/>
          </a:solidFill>
          <a:ln w="12700">
            <a:solidFill>
              <a:srgbClr val="5EC7A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9692640" y="4298823"/>
            <a:ext cx="5943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880" dirty="0"/>
          </a:p>
        </p:txBody>
      </p:sp>
      <p:sp>
        <p:nvSpPr>
          <p:cNvPr id="25" name="Text 23"/>
          <p:cNvSpPr/>
          <p:nvPr/>
        </p:nvSpPr>
        <p:spPr>
          <a:xfrm>
            <a:off x="1280160" y="4590288"/>
            <a:ext cx="19659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用户</a:t>
            </a:r>
            <a:endParaRPr lang="en-US" sz="880" dirty="0"/>
          </a:p>
        </p:txBody>
      </p:sp>
      <p:sp>
        <p:nvSpPr>
          <p:cNvPr id="26" name="Shape 24"/>
          <p:cNvSpPr/>
          <p:nvPr/>
        </p:nvSpPr>
        <p:spPr>
          <a:xfrm>
            <a:off x="3364992" y="4624578"/>
            <a:ext cx="6217920" cy="128016"/>
          </a:xfrm>
          <a:prstGeom prst="roundRect">
            <a:avLst>
              <a:gd name="adj" fmla="val 28571"/>
            </a:avLst>
          </a:prstGeom>
          <a:solidFill>
            <a:srgbClr val="5EC7A1"/>
          </a:solidFill>
          <a:ln w="12700">
            <a:solidFill>
              <a:srgbClr val="5EC7A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9692640" y="4584573"/>
            <a:ext cx="5943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</a:t>
            </a:r>
            <a:endParaRPr lang="en-US" sz="880" dirty="0"/>
          </a:p>
        </p:txBody>
      </p:sp>
      <p:sp>
        <p:nvSpPr>
          <p:cNvPr id="28" name="Shape 26"/>
          <p:cNvSpPr/>
          <p:nvPr/>
        </p:nvSpPr>
        <p:spPr>
          <a:xfrm>
            <a:off x="2971800" y="5696712"/>
            <a:ext cx="6309360" cy="256032"/>
          </a:xfrm>
          <a:prstGeom prst="roundRect">
            <a:avLst>
              <a:gd name="adj" fmla="val 28571"/>
            </a:avLst>
          </a:prstGeom>
          <a:solidFill>
            <a:srgbClr val="EAF8F4"/>
          </a:solidFill>
          <a:ln w="12700">
            <a:solidFill>
              <a:srgbClr val="1F6F6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3044952" y="5747004"/>
            <a:ext cx="616305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输出：请求级 jmeter_results.csv + 汇总级 jmeter_summary.csv</a:t>
            </a:r>
            <a:endParaRPr lang="en-US" sz="820" dirty="0"/>
          </a:p>
        </p:txBody>
      </p:sp>
      <p:sp>
        <p:nvSpPr>
          <p:cNvPr id="30" name="Text 28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27</a:t>
            </a:r>
            <a:endParaRPr lang="en-US" sz="7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JMeter Results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JMeter 四档并发结果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随着并发用户提升，吞吐量近似线性增长，错误率保持 0.00%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30352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05840" y="1645920"/>
            <a:ext cx="2743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平均吞吐量（req/s）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258568"/>
            <a:ext cx="19659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 用户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999232" y="2324405"/>
            <a:ext cx="174943" cy="128016"/>
          </a:xfrm>
          <a:prstGeom prst="roundRect">
            <a:avLst>
              <a:gd name="adj" fmla="val 28571"/>
            </a:avLst>
          </a:prstGeom>
          <a:solidFill>
            <a:srgbClr val="5EC7A1"/>
          </a:solidFill>
          <a:ln w="12700">
            <a:solidFill>
              <a:srgbClr val="5EC7A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937760" y="2247595"/>
            <a:ext cx="5943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9.566/s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914400" y="2807208"/>
            <a:ext cx="19659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 用户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999232" y="2873045"/>
            <a:ext cx="520129" cy="128016"/>
          </a:xfrm>
          <a:prstGeom prst="roundRect">
            <a:avLst>
              <a:gd name="adj" fmla="val 28571"/>
            </a:avLst>
          </a:prstGeom>
          <a:solidFill>
            <a:srgbClr val="5EC7A1"/>
          </a:solidFill>
          <a:ln w="12700">
            <a:solidFill>
              <a:srgbClr val="5EC7A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937760" y="2796235"/>
            <a:ext cx="5943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28.441/s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914400" y="3355848"/>
            <a:ext cx="19659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 用户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2999232" y="3421685"/>
            <a:ext cx="874276" cy="128016"/>
          </a:xfrm>
          <a:prstGeom prst="roundRect">
            <a:avLst>
              <a:gd name="adj" fmla="val 28571"/>
            </a:avLst>
          </a:prstGeom>
          <a:solidFill>
            <a:srgbClr val="5EC7A1"/>
          </a:solidFill>
          <a:ln w="12700">
            <a:solidFill>
              <a:srgbClr val="5EC7A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937760" y="3344875"/>
            <a:ext cx="5943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47.806/s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914400" y="3904488"/>
            <a:ext cx="19659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用户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2999232" y="3970325"/>
            <a:ext cx="1738860" cy="128016"/>
          </a:xfrm>
          <a:prstGeom prst="roundRect">
            <a:avLst>
              <a:gd name="adj" fmla="val 28571"/>
            </a:avLst>
          </a:prstGeom>
          <a:solidFill>
            <a:srgbClr val="5EC7A1"/>
          </a:solidFill>
          <a:ln w="12700">
            <a:solidFill>
              <a:srgbClr val="5EC7A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4937760" y="3893515"/>
            <a:ext cx="5943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95.082/s</a:t>
            </a:r>
            <a:endParaRPr lang="en-US" sz="880" dirty="0"/>
          </a:p>
        </p:txBody>
      </p:sp>
      <p:sp>
        <p:nvSpPr>
          <p:cNvPr id="20" name="Shape 18"/>
          <p:cNvSpPr/>
          <p:nvPr/>
        </p:nvSpPr>
        <p:spPr>
          <a:xfrm>
            <a:off x="6309360" y="1371600"/>
            <a:ext cx="4983480" cy="41148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6583680" y="164592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压测汇总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6510528" y="2084832"/>
            <a:ext cx="868680" cy="429768"/>
          </a:xfrm>
          <a:prstGeom prst="rect">
            <a:avLst/>
          </a:prstGeom>
          <a:solidFill>
            <a:srgbClr val="5EC7A1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3" name="Text 21"/>
          <p:cNvSpPr/>
          <p:nvPr/>
        </p:nvSpPr>
        <p:spPr>
          <a:xfrm>
            <a:off x="6556248" y="2130552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并发</a:t>
            </a:r>
            <a:endParaRPr lang="en-US" sz="980" dirty="0"/>
          </a:p>
        </p:txBody>
      </p:sp>
      <p:sp>
        <p:nvSpPr>
          <p:cNvPr id="24" name="Shape 22"/>
          <p:cNvSpPr/>
          <p:nvPr/>
        </p:nvSpPr>
        <p:spPr>
          <a:xfrm>
            <a:off x="7379208" y="2084832"/>
            <a:ext cx="1051560" cy="429768"/>
          </a:xfrm>
          <a:prstGeom prst="rect">
            <a:avLst/>
          </a:prstGeom>
          <a:solidFill>
            <a:srgbClr val="5EC7A1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3"/>
          <p:cNvSpPr/>
          <p:nvPr/>
        </p:nvSpPr>
        <p:spPr>
          <a:xfrm>
            <a:off x="7424928" y="2130552"/>
            <a:ext cx="960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持续时间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8430768" y="2084832"/>
            <a:ext cx="1325880" cy="429768"/>
          </a:xfrm>
          <a:prstGeom prst="rect">
            <a:avLst/>
          </a:prstGeom>
          <a:solidFill>
            <a:srgbClr val="5EC7A1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7" name="Text 25"/>
          <p:cNvSpPr/>
          <p:nvPr/>
        </p:nvSpPr>
        <p:spPr>
          <a:xfrm>
            <a:off x="8476488" y="2130552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样本数</a:t>
            </a:r>
            <a:endParaRPr lang="en-US" sz="980" dirty="0"/>
          </a:p>
        </p:txBody>
      </p:sp>
      <p:sp>
        <p:nvSpPr>
          <p:cNvPr id="28" name="Shape 26"/>
          <p:cNvSpPr/>
          <p:nvPr/>
        </p:nvSpPr>
        <p:spPr>
          <a:xfrm>
            <a:off x="9756648" y="2084832"/>
            <a:ext cx="960120" cy="429768"/>
          </a:xfrm>
          <a:prstGeom prst="rect">
            <a:avLst/>
          </a:prstGeom>
          <a:solidFill>
            <a:srgbClr val="5EC7A1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9" name="Text 27"/>
          <p:cNvSpPr/>
          <p:nvPr/>
        </p:nvSpPr>
        <p:spPr>
          <a:xfrm>
            <a:off x="9802368" y="2130552"/>
            <a:ext cx="868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8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错误率</a:t>
            </a:r>
            <a:endParaRPr lang="en-US" sz="980" dirty="0"/>
          </a:p>
        </p:txBody>
      </p:sp>
      <p:sp>
        <p:nvSpPr>
          <p:cNvPr id="30" name="Shape 28"/>
          <p:cNvSpPr/>
          <p:nvPr/>
        </p:nvSpPr>
        <p:spPr>
          <a:xfrm>
            <a:off x="6510528" y="2514600"/>
            <a:ext cx="86868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9"/>
          <p:cNvSpPr/>
          <p:nvPr/>
        </p:nvSpPr>
        <p:spPr>
          <a:xfrm>
            <a:off x="6556248" y="2560320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7379208" y="2514600"/>
            <a:ext cx="105156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3" name="Text 31"/>
          <p:cNvSpPr/>
          <p:nvPr/>
        </p:nvSpPr>
        <p:spPr>
          <a:xfrm>
            <a:off x="7424928" y="2560320"/>
            <a:ext cx="960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600s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8430768" y="2514600"/>
            <a:ext cx="132588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5" name="Text 33"/>
          <p:cNvSpPr/>
          <p:nvPr/>
        </p:nvSpPr>
        <p:spPr>
          <a:xfrm>
            <a:off x="8476488" y="2560320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5,730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9756648" y="2514600"/>
            <a:ext cx="96012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7" name="Text 35"/>
          <p:cNvSpPr/>
          <p:nvPr/>
        </p:nvSpPr>
        <p:spPr>
          <a:xfrm>
            <a:off x="9802368" y="2560320"/>
            <a:ext cx="868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0.00%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510528" y="2944368"/>
            <a:ext cx="86868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9" name="Text 37"/>
          <p:cNvSpPr/>
          <p:nvPr/>
        </p:nvSpPr>
        <p:spPr>
          <a:xfrm>
            <a:off x="6556248" y="2990088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7379208" y="2944368"/>
            <a:ext cx="105156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" name="Text 39"/>
          <p:cNvSpPr/>
          <p:nvPr/>
        </p:nvSpPr>
        <p:spPr>
          <a:xfrm>
            <a:off x="7424928" y="2990088"/>
            <a:ext cx="960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600s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8430768" y="2944368"/>
            <a:ext cx="132588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3" name="Text 41"/>
          <p:cNvSpPr/>
          <p:nvPr/>
        </p:nvSpPr>
        <p:spPr>
          <a:xfrm>
            <a:off x="8476488" y="2990088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17,036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9756648" y="2944368"/>
            <a:ext cx="96012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5" name="Text 43"/>
          <p:cNvSpPr/>
          <p:nvPr/>
        </p:nvSpPr>
        <p:spPr>
          <a:xfrm>
            <a:off x="9802368" y="2990088"/>
            <a:ext cx="868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0.00%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510528" y="3374136"/>
            <a:ext cx="86868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7" name="Text 45"/>
          <p:cNvSpPr/>
          <p:nvPr/>
        </p:nvSpPr>
        <p:spPr>
          <a:xfrm>
            <a:off x="6556248" y="3419856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7379208" y="3374136"/>
            <a:ext cx="105156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9" name="Text 47"/>
          <p:cNvSpPr/>
          <p:nvPr/>
        </p:nvSpPr>
        <p:spPr>
          <a:xfrm>
            <a:off x="7424928" y="3419856"/>
            <a:ext cx="960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900s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430768" y="3374136"/>
            <a:ext cx="132588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1" name="Text 49"/>
          <p:cNvSpPr/>
          <p:nvPr/>
        </p:nvSpPr>
        <p:spPr>
          <a:xfrm>
            <a:off x="8476488" y="3419856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42,978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9756648" y="3374136"/>
            <a:ext cx="96012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3" name="Text 51"/>
          <p:cNvSpPr/>
          <p:nvPr/>
        </p:nvSpPr>
        <p:spPr>
          <a:xfrm>
            <a:off x="9802368" y="3419856"/>
            <a:ext cx="868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0.00%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6510528" y="3803904"/>
            <a:ext cx="86868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5" name="Text 53"/>
          <p:cNvSpPr/>
          <p:nvPr/>
        </p:nvSpPr>
        <p:spPr>
          <a:xfrm>
            <a:off x="6556248" y="3849624"/>
            <a:ext cx="7772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7379208" y="3803904"/>
            <a:ext cx="105156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7" name="Text 55"/>
          <p:cNvSpPr/>
          <p:nvPr/>
        </p:nvSpPr>
        <p:spPr>
          <a:xfrm>
            <a:off x="7424928" y="3849624"/>
            <a:ext cx="96012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900s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8430768" y="3803904"/>
            <a:ext cx="132588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59" name="Text 57"/>
          <p:cNvSpPr/>
          <p:nvPr/>
        </p:nvSpPr>
        <p:spPr>
          <a:xfrm>
            <a:off x="8476488" y="3849624"/>
            <a:ext cx="123444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85,479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9756648" y="3803904"/>
            <a:ext cx="960120" cy="429768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1" name="Text 59"/>
          <p:cNvSpPr/>
          <p:nvPr/>
        </p:nvSpPr>
        <p:spPr>
          <a:xfrm>
            <a:off x="9802368" y="3849624"/>
            <a:ext cx="868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0.00%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2331720" y="5806440"/>
            <a:ext cx="7635240" cy="256032"/>
          </a:xfrm>
          <a:prstGeom prst="roundRect">
            <a:avLst>
              <a:gd name="adj" fmla="val 28571"/>
            </a:avLst>
          </a:prstGeom>
          <a:solidFill>
            <a:srgbClr val="EAF8F4"/>
          </a:solidFill>
          <a:ln w="12700">
            <a:solidFill>
              <a:srgbClr val="1F6F6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63" name="Text 61"/>
          <p:cNvSpPr/>
          <p:nvPr/>
        </p:nvSpPr>
        <p:spPr>
          <a:xfrm>
            <a:off x="2404872" y="5856732"/>
            <a:ext cx="74889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正式压测覆盖：frontend 50,564 次；coupon 50,372 次；inventory 50,287 次</a:t>
            </a:r>
            <a:endParaRPr lang="en-US" sz="820" dirty="0"/>
          </a:p>
        </p:txBody>
      </p:sp>
      <p:sp>
        <p:nvSpPr>
          <p:cNvPr id="64" name="Text 62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28</a:t>
            </a:r>
            <a:endParaRPr lang="en-US" sz="7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JMeter 100 Users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100 用户压测细节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 Summary、Aggregate、响应时间曲线与吞吐量图作为性能证据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85800" y="1371600"/>
            <a:ext cx="539496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/mnt/data/report_assets/p32_img03_2023x25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97178" y="1481328"/>
            <a:ext cx="3772205" cy="47548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121408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Summary Report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263640" y="1371600"/>
            <a:ext cx="5257800" cy="1005840"/>
          </a:xfrm>
          <a:prstGeom prst="roundRect">
            <a:avLst>
              <a:gd name="adj" fmla="val 10909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1" descr="/mnt/data/report_assets/p32_img04_2026x269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1948" y="1481328"/>
            <a:ext cx="3581185" cy="47548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0" y="2121408"/>
            <a:ext cx="4983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Aggregate Report</a:t>
            </a:r>
            <a:endParaRPr lang="en-US" sz="780" dirty="0"/>
          </a:p>
        </p:txBody>
      </p:sp>
      <p:sp>
        <p:nvSpPr>
          <p:cNvPr id="12" name="Shape 8"/>
          <p:cNvSpPr/>
          <p:nvPr/>
        </p:nvSpPr>
        <p:spPr>
          <a:xfrm>
            <a:off x="685800" y="2743200"/>
            <a:ext cx="539496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2" descr="/mnt/data/report_assets/p33_img02_2025x883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08024" y="2852928"/>
            <a:ext cx="4550512" cy="198424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960" y="5001768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响应时间曲线</a:t>
            </a:r>
            <a:endParaRPr lang="en-US" sz="780" dirty="0"/>
          </a:p>
        </p:txBody>
      </p:sp>
      <p:sp>
        <p:nvSpPr>
          <p:cNvPr id="15" name="Shape 10"/>
          <p:cNvSpPr/>
          <p:nvPr/>
        </p:nvSpPr>
        <p:spPr>
          <a:xfrm>
            <a:off x="6263640" y="2743200"/>
            <a:ext cx="525780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6" name="Image 3" descr="/mnt/data/report_assets/p33_img03_2025x883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617284" y="2852928"/>
            <a:ext cx="4550512" cy="1984248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00800" y="5001768"/>
            <a:ext cx="4983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吞吐量结果</a:t>
            </a:r>
            <a:endParaRPr lang="en-US" sz="780" dirty="0"/>
          </a:p>
        </p:txBody>
      </p:sp>
      <p:sp>
        <p:nvSpPr>
          <p:cNvPr id="18" name="Text 12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29</a:t>
            </a:r>
            <a:endParaRPr lang="en-US" sz="75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Dataset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异常数据集整理：统一字段与标签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从监控、故障、测试结果中生成可用于算法复现的数据集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777240" y="1417320"/>
            <a:ext cx="199887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850392" y="1490472"/>
            <a:ext cx="185257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normal_metrics.csv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794406" y="1746504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9" name="Shape 7"/>
          <p:cNvSpPr/>
          <p:nvPr/>
        </p:nvSpPr>
        <p:spPr>
          <a:xfrm>
            <a:off x="2940710" y="1417320"/>
            <a:ext cx="199887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3013862" y="1490472"/>
            <a:ext cx="185257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fault_metrics.csv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957877" y="1746504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5104181" y="1417320"/>
            <a:ext cx="199887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177333" y="1490472"/>
            <a:ext cx="185257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all_metrics_labeled.csv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7121347" y="1746504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5" name="Shape 13"/>
          <p:cNvSpPr/>
          <p:nvPr/>
        </p:nvSpPr>
        <p:spPr>
          <a:xfrm>
            <a:off x="7267651" y="1417320"/>
            <a:ext cx="1998878" cy="658368"/>
          </a:xfrm>
          <a:prstGeom prst="roundRect">
            <a:avLst>
              <a:gd name="adj" fmla="val 16667"/>
            </a:avLst>
          </a:prstGeom>
          <a:solidFill>
            <a:srgbClr val="FFFFFF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7340803" y="1490472"/>
            <a:ext cx="185257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统计验收报告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9284818" y="1746504"/>
            <a:ext cx="109728" cy="0"/>
          </a:xfrm>
          <a:prstGeom prst="line">
            <a:avLst/>
          </a:prstGeom>
          <a:noFill/>
          <a:ln w="17780">
            <a:solidFill>
              <a:srgbClr val="5EC7A1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Shape 16"/>
          <p:cNvSpPr/>
          <p:nvPr/>
        </p:nvSpPr>
        <p:spPr>
          <a:xfrm>
            <a:off x="9431122" y="1417320"/>
            <a:ext cx="1998878" cy="658368"/>
          </a:xfrm>
          <a:prstGeom prst="roundRect">
            <a:avLst>
              <a:gd name="adj" fmla="val 16667"/>
            </a:avLst>
          </a:prstGeom>
          <a:solidFill>
            <a:srgbClr val="EAF8F4"/>
          </a:solidFill>
          <a:ln w="15240">
            <a:solidFill>
              <a:srgbClr val="5EC7A1"/>
            </a:solidFill>
            <a:prstDash val="solid"/>
          </a:ln>
          <a:effectLst>
            <a:outerShdw blurRad="12700" dist="50800" dir="2700000" algn="bl" rotWithShape="0">
              <a:srgbClr val="C7D6D1">
                <a:alpha val="12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9504274" y="1490472"/>
            <a:ext cx="185257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数据画像图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22960" y="2542032"/>
            <a:ext cx="502920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1" name="Text 19"/>
          <p:cNvSpPr/>
          <p:nvPr/>
        </p:nvSpPr>
        <p:spPr>
          <a:xfrm>
            <a:off x="1078992" y="278892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模型输入特征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1051560" y="3182112"/>
            <a:ext cx="411480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cpu_usage、memory_usage_mb</a:t>
            </a:r>
            <a:endParaRPr lang="en-US" sz="1120" dirty="0"/>
          </a:p>
          <a:p>
            <a:r>
              <a:rPr lang="en-US" sz="11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request_rate、error_rate、throughput</a:t>
            </a:r>
            <a:endParaRPr lang="en-US" sz="1120" dirty="0"/>
          </a:p>
          <a:p>
            <a:r>
              <a:rPr lang="en-US" sz="11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avg_latency_ms、p95_latency_ms</a:t>
            </a:r>
            <a:endParaRPr lang="en-US" sz="1120" dirty="0"/>
          </a:p>
          <a:p>
            <a:r>
              <a:rPr lang="en-US" sz="11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http_5xx_rate、restart_count</a:t>
            </a:r>
            <a:endParaRPr lang="en-US" sz="1120" dirty="0"/>
          </a:p>
        </p:txBody>
      </p:sp>
      <p:sp>
        <p:nvSpPr>
          <p:cNvPr id="23" name="Shape 21"/>
          <p:cNvSpPr/>
          <p:nvPr/>
        </p:nvSpPr>
        <p:spPr>
          <a:xfrm>
            <a:off x="6309360" y="2542032"/>
            <a:ext cx="5029200" cy="2514600"/>
          </a:xfrm>
          <a:prstGeom prst="roundRect">
            <a:avLst>
              <a:gd name="adj" fmla="val 4364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6565392" y="2788920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标注与解释字段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6537960" y="3182112"/>
            <a:ext cx="4114800" cy="10515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timestamp、experiment_id、run_id</a:t>
            </a:r>
            <a:endParaRPr lang="en-US" sz="1120" dirty="0"/>
          </a:p>
          <a:p>
            <a:r>
              <a:rPr lang="en-US" sz="11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scenario、label、fault_type</a:t>
            </a:r>
            <a:endParaRPr lang="en-US" sz="1120" dirty="0"/>
          </a:p>
          <a:p>
            <a:r>
              <a:rPr lang="en-US" sz="11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fault_service、fault_phase、pod、namespace</a:t>
            </a:r>
            <a:endParaRPr lang="en-US" sz="1120" dirty="0"/>
          </a:p>
        </p:txBody>
      </p:sp>
      <p:sp>
        <p:nvSpPr>
          <p:cNvPr id="26" name="Text 24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30</a:t>
            </a:r>
            <a:endParaRPr lang="en-US" sz="7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Dataset Quality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数据规模与质量校验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合计 50,400 条记录，覆盖 14 个服务、10 次运行和四类故障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731520" y="1371600"/>
            <a:ext cx="530352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05840" y="16642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数据行数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270760"/>
            <a:ext cx="19659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normal_metrics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999232" y="2343912"/>
            <a:ext cx="914400" cy="128016"/>
          </a:xfrm>
          <a:prstGeom prst="roundRect">
            <a:avLst>
              <a:gd name="adj" fmla="val 28571"/>
            </a:avLst>
          </a:prstGeom>
          <a:solidFill>
            <a:srgbClr val="5EC7A1"/>
          </a:solidFill>
          <a:ln w="12700">
            <a:solidFill>
              <a:srgbClr val="5EC7A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4937760" y="2258568"/>
            <a:ext cx="5943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25200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914400" y="2880360"/>
            <a:ext cx="19659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fault_metrics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999232" y="2953512"/>
            <a:ext cx="914400" cy="128016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4937760" y="2868168"/>
            <a:ext cx="5943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25200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914400" y="3489960"/>
            <a:ext cx="19659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all_metrics_labeled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2999232" y="3563112"/>
            <a:ext cx="1828800" cy="128016"/>
          </a:xfrm>
          <a:prstGeom prst="roundRect">
            <a:avLst>
              <a:gd name="adj" fmla="val 28571"/>
            </a:avLst>
          </a:prstGeom>
          <a:solidFill>
            <a:srgbClr val="1F6F67"/>
          </a:solidFill>
          <a:ln w="12700">
            <a:solidFill>
              <a:srgbClr val="1F6F6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937760" y="3477768"/>
            <a:ext cx="5943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50400</a:t>
            </a:r>
            <a:endParaRPr lang="en-US" sz="880" dirty="0"/>
          </a:p>
        </p:txBody>
      </p:sp>
      <p:sp>
        <p:nvSpPr>
          <p:cNvPr id="17" name="Shape 15"/>
          <p:cNvSpPr/>
          <p:nvPr/>
        </p:nvSpPr>
        <p:spPr>
          <a:xfrm>
            <a:off x="6309360" y="1371600"/>
            <a:ext cx="4983480" cy="4160520"/>
          </a:xfrm>
          <a:prstGeom prst="roundRect">
            <a:avLst>
              <a:gd name="adj" fmla="val 2637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583680" y="1664208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质量结论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65392" y="2075688"/>
            <a:ext cx="406908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normal 与 fault 字段完全一致</a:t>
            </a:r>
            <a:endParaRPr lang="en-US" sz="1120" dirty="0"/>
          </a:p>
          <a:p>
            <a:r>
              <a:rPr lang="en-US" sz="11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缺失率为 0，重复率为 0</a:t>
            </a:r>
            <a:endParaRPr lang="en-US" sz="1120" dirty="0"/>
          </a:p>
          <a:p>
            <a:r>
              <a:rPr lang="en-US" sz="11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采样间隔 5 秒，run 数为 10</a:t>
            </a:r>
            <a:endParaRPr lang="en-US" sz="1120" dirty="0"/>
          </a:p>
          <a:p>
            <a:r>
              <a:rPr lang="en-US" sz="11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覆盖 pod_kill、cpu_stress、memory_stress、network_delay</a:t>
            </a:r>
            <a:endParaRPr lang="en-US" sz="1120" dirty="0"/>
          </a:p>
          <a:p>
            <a:r>
              <a:rPr lang="en-US" sz="11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核心数值字段存在有效波动</a:t>
            </a:r>
            <a:endParaRPr lang="en-US" sz="1120" dirty="0"/>
          </a:p>
        </p:txBody>
      </p:sp>
      <p:sp>
        <p:nvSpPr>
          <p:cNvPr id="20" name="Text 18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31</a:t>
            </a:r>
            <a:endParaRPr lang="en-US" sz="7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Metric Shift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核心指标波动分析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故障状态下延迟、错误率和 5xx 速率出现显著变化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731520" y="1325880"/>
            <a:ext cx="5349240" cy="4526280"/>
          </a:xfrm>
          <a:prstGeom prst="roundRect">
            <a:avLst>
              <a:gd name="adj" fmla="val 2424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24128" y="1627632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fault / normal 比值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914400" y="2243938"/>
            <a:ext cx="19659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avg_latency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2999232" y="2300996"/>
            <a:ext cx="146842" cy="128016"/>
          </a:xfrm>
          <a:prstGeom prst="roundRect">
            <a:avLst>
              <a:gd name="adj" fmla="val 28571"/>
            </a:avLst>
          </a:prstGeom>
          <a:solidFill>
            <a:srgbClr val="5EC7A1"/>
          </a:solidFill>
          <a:ln w="12700">
            <a:solidFill>
              <a:srgbClr val="5EC7A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029200" y="2234428"/>
            <a:ext cx="5943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1.3×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914400" y="2719426"/>
            <a:ext cx="19659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p95_latency</a:t>
            </a:r>
            <a:endParaRPr lang="en-US" sz="880" dirty="0"/>
          </a:p>
        </p:txBody>
      </p:sp>
      <p:sp>
        <p:nvSpPr>
          <p:cNvPr id="12" name="Shape 10"/>
          <p:cNvSpPr/>
          <p:nvPr/>
        </p:nvSpPr>
        <p:spPr>
          <a:xfrm>
            <a:off x="2999232" y="2776484"/>
            <a:ext cx="194283" cy="128016"/>
          </a:xfrm>
          <a:prstGeom prst="roundRect">
            <a:avLst>
              <a:gd name="adj" fmla="val 28571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5029200" y="2709916"/>
            <a:ext cx="5943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1.72×</a:t>
            </a:r>
            <a:endParaRPr lang="en-US" sz="880" dirty="0"/>
          </a:p>
        </p:txBody>
      </p:sp>
      <p:sp>
        <p:nvSpPr>
          <p:cNvPr id="14" name="Text 12"/>
          <p:cNvSpPr/>
          <p:nvPr/>
        </p:nvSpPr>
        <p:spPr>
          <a:xfrm>
            <a:off x="914400" y="3194914"/>
            <a:ext cx="19659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error_rate</a:t>
            </a:r>
            <a:endParaRPr lang="en-US" sz="880" dirty="0"/>
          </a:p>
        </p:txBody>
      </p:sp>
      <p:sp>
        <p:nvSpPr>
          <p:cNvPr id="15" name="Shape 13"/>
          <p:cNvSpPr/>
          <p:nvPr/>
        </p:nvSpPr>
        <p:spPr>
          <a:xfrm>
            <a:off x="2999232" y="3251972"/>
            <a:ext cx="380659" cy="128016"/>
          </a:xfrm>
          <a:prstGeom prst="roundRect">
            <a:avLst>
              <a:gd name="adj" fmla="val 28571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5029200" y="3185404"/>
            <a:ext cx="5943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3.37×</a:t>
            </a:r>
            <a:endParaRPr lang="en-US" sz="880" dirty="0"/>
          </a:p>
        </p:txBody>
      </p:sp>
      <p:sp>
        <p:nvSpPr>
          <p:cNvPr id="17" name="Text 15"/>
          <p:cNvSpPr/>
          <p:nvPr/>
        </p:nvSpPr>
        <p:spPr>
          <a:xfrm>
            <a:off x="914400" y="3670402"/>
            <a:ext cx="19659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http_5xx_rate</a:t>
            </a:r>
            <a:endParaRPr lang="en-US" sz="880" dirty="0"/>
          </a:p>
        </p:txBody>
      </p:sp>
      <p:sp>
        <p:nvSpPr>
          <p:cNvPr id="18" name="Shape 16"/>
          <p:cNvSpPr/>
          <p:nvPr/>
        </p:nvSpPr>
        <p:spPr>
          <a:xfrm>
            <a:off x="2999232" y="3727460"/>
            <a:ext cx="1917981" cy="128016"/>
          </a:xfrm>
          <a:prstGeom prst="roundRect">
            <a:avLst>
              <a:gd name="adj" fmla="val 28571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7"/>
          <p:cNvSpPr/>
          <p:nvPr/>
        </p:nvSpPr>
        <p:spPr>
          <a:xfrm>
            <a:off x="5029200" y="3660892"/>
            <a:ext cx="5943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16.98×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914400" y="4145890"/>
            <a:ext cx="19659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8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throughput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2999232" y="4202948"/>
            <a:ext cx="105048" cy="128016"/>
          </a:xfrm>
          <a:prstGeom prst="roundRect">
            <a:avLst>
              <a:gd name="adj" fmla="val 34818"/>
            </a:avLst>
          </a:prstGeom>
          <a:solidFill>
            <a:srgbClr val="3B82F6"/>
          </a:solidFill>
          <a:ln w="12700">
            <a:solidFill>
              <a:srgbClr val="3B82F6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5029200" y="4136380"/>
            <a:ext cx="594360" cy="12801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8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0.93×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6309360" y="1325880"/>
            <a:ext cx="49834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24" name="Image 0" descr="/mnt/data/report_assets/p35_img02_1760x96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1306" y="1435608"/>
            <a:ext cx="2799588" cy="1527048"/>
          </a:xfrm>
          <a:prstGeom prst="rect">
            <a:avLst/>
          </a:prstGeom>
        </p:spPr>
      </p:pic>
      <p:sp>
        <p:nvSpPr>
          <p:cNvPr id="25" name="Text 22"/>
          <p:cNvSpPr/>
          <p:nvPr/>
        </p:nvSpPr>
        <p:spPr>
          <a:xfrm>
            <a:off x="6446520" y="3127248"/>
            <a:ext cx="4709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normal 与 fault 延迟分布画像</a:t>
            </a:r>
            <a:endParaRPr lang="en-US" sz="780" dirty="0"/>
          </a:p>
        </p:txBody>
      </p:sp>
      <p:sp>
        <p:nvSpPr>
          <p:cNvPr id="26" name="Shape 23"/>
          <p:cNvSpPr/>
          <p:nvPr/>
        </p:nvSpPr>
        <p:spPr>
          <a:xfrm>
            <a:off x="6309360" y="3749040"/>
            <a:ext cx="4983480" cy="2057400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27" name="Image 1" descr="/mnt/data/report_assets/p36_img02_1760x96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1306" y="3858768"/>
            <a:ext cx="2799588" cy="1527048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6446520" y="5550408"/>
            <a:ext cx="47091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故障类型分布画像</a:t>
            </a:r>
            <a:endParaRPr lang="en-US" sz="780" dirty="0"/>
          </a:p>
        </p:txBody>
      </p:sp>
      <p:sp>
        <p:nvSpPr>
          <p:cNvPr id="29" name="Text 25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7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Algorithms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算法复现总览：检测与定位分工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先判断是否异常，再给出根因候选服务排序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822960" y="1508760"/>
            <a:ext cx="489204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Text 5"/>
          <p:cNvSpPr/>
          <p:nvPr/>
        </p:nvSpPr>
        <p:spPr>
          <a:xfrm>
            <a:off x="1097280" y="17830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DA-VAE：异常检测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78992" y="2212848"/>
            <a:ext cx="388620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任务：判断服务指标是否偏离正常状态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输入：normal/fault 指标窗口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输出：服务级异常分数、异常预测、异常曲线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适合回答：故障是否发生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6446520" y="1508760"/>
            <a:ext cx="4892040" cy="3886200"/>
          </a:xfrm>
          <a:prstGeom prst="roundRect">
            <a:avLst>
              <a:gd name="adj" fmla="val 2824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6720840" y="1783080"/>
            <a:ext cx="2468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KPIRoot：根因定位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702552" y="2212848"/>
            <a:ext cx="3886200" cy="17373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任务：告警后对候选服务排序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输入：fault 指标、故障阶段、候选服务 KPI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输出：根因得分、Top-K 排名、诊断证据</a:t>
            </a:r>
            <a:endParaRPr lang="en-US" sz="1150" dirty="0"/>
          </a:p>
          <a:p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适合回答：优先排查哪里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806440" y="3429000"/>
            <a:ext cx="576072" cy="0"/>
          </a:xfrm>
          <a:prstGeom prst="line">
            <a:avLst/>
          </a:prstGeom>
          <a:noFill/>
          <a:ln w="17780">
            <a:solidFill>
              <a:srgbClr val="2F8F83"/>
            </a:solidFill>
            <a:prstDash val="solid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Shape 11"/>
          <p:cNvSpPr/>
          <p:nvPr/>
        </p:nvSpPr>
        <p:spPr>
          <a:xfrm>
            <a:off x="4087368" y="5760720"/>
            <a:ext cx="4114800" cy="256032"/>
          </a:xfrm>
          <a:prstGeom prst="roundRect">
            <a:avLst>
              <a:gd name="adj" fmla="val 28571"/>
            </a:avLst>
          </a:prstGeom>
          <a:solidFill>
            <a:srgbClr val="EAF8F4"/>
          </a:solidFill>
          <a:ln w="12700">
            <a:solidFill>
              <a:srgbClr val="1F6F6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4160520" y="5811012"/>
            <a:ext cx="396849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算法部分作为智能运维 Agent 的证据输入</a:t>
            </a:r>
            <a:endParaRPr lang="en-US" sz="820" dirty="0"/>
          </a:p>
        </p:txBody>
      </p:sp>
      <p:sp>
        <p:nvSpPr>
          <p:cNvPr id="15" name="Text 13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33</a:t>
            </a:r>
            <a:endParaRPr lang="en-US" sz="7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DA-VAE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DA-VAE 异常检测：课程化适配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保留 VAE、Transformer 编码、β-KL 约束和滑动窗口检测思想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85800" y="1298448"/>
            <a:ext cx="580644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/mnt/data/report_assets/p37_img02_1672x9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76287" y="1408176"/>
            <a:ext cx="4825467" cy="27157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288536"/>
            <a:ext cx="55321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DA-VAE 异常检测适配图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784848" y="1298448"/>
            <a:ext cx="448056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7040880" y="1600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参数设置</a:t>
            </a:r>
            <a:endParaRPr lang="en-US" sz="1400" dirty="0"/>
          </a:p>
        </p:txBody>
      </p:sp>
      <p:sp>
        <p:nvSpPr>
          <p:cNvPr id="11" name="Shape 8"/>
          <p:cNvSpPr/>
          <p:nvPr/>
        </p:nvSpPr>
        <p:spPr>
          <a:xfrm>
            <a:off x="7022592" y="1965960"/>
            <a:ext cx="2103120" cy="280035"/>
          </a:xfrm>
          <a:prstGeom prst="rect">
            <a:avLst/>
          </a:prstGeom>
          <a:solidFill>
            <a:srgbClr val="5EC7A1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9"/>
          <p:cNvSpPr/>
          <p:nvPr/>
        </p:nvSpPr>
        <p:spPr>
          <a:xfrm>
            <a:off x="7068312" y="2011680"/>
            <a:ext cx="201168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参数</a:t>
            </a:r>
            <a:endParaRPr lang="en-US" sz="920" dirty="0"/>
          </a:p>
        </p:txBody>
      </p:sp>
      <p:sp>
        <p:nvSpPr>
          <p:cNvPr id="13" name="Shape 10"/>
          <p:cNvSpPr/>
          <p:nvPr/>
        </p:nvSpPr>
        <p:spPr>
          <a:xfrm>
            <a:off x="9125712" y="1965960"/>
            <a:ext cx="1188720" cy="280035"/>
          </a:xfrm>
          <a:prstGeom prst="rect">
            <a:avLst/>
          </a:prstGeom>
          <a:solidFill>
            <a:srgbClr val="5EC7A1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1"/>
          <p:cNvSpPr/>
          <p:nvPr/>
        </p:nvSpPr>
        <p:spPr>
          <a:xfrm>
            <a:off x="9171432" y="2011680"/>
            <a:ext cx="109728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9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取值</a:t>
            </a:r>
            <a:endParaRPr lang="en-US" sz="920" dirty="0"/>
          </a:p>
        </p:txBody>
      </p:sp>
      <p:sp>
        <p:nvSpPr>
          <p:cNvPr id="15" name="Shape 12"/>
          <p:cNvSpPr/>
          <p:nvPr/>
        </p:nvSpPr>
        <p:spPr>
          <a:xfrm>
            <a:off x="7022592" y="2245995"/>
            <a:ext cx="2103120" cy="280035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3"/>
          <p:cNvSpPr/>
          <p:nvPr/>
        </p:nvSpPr>
        <p:spPr>
          <a:xfrm>
            <a:off x="7068312" y="2291715"/>
            <a:ext cx="201168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WINDOW_SIZE</a:t>
            </a:r>
            <a:endParaRPr lang="en-US" sz="840" dirty="0"/>
          </a:p>
        </p:txBody>
      </p:sp>
      <p:sp>
        <p:nvSpPr>
          <p:cNvPr id="17" name="Shape 14"/>
          <p:cNvSpPr/>
          <p:nvPr/>
        </p:nvSpPr>
        <p:spPr>
          <a:xfrm>
            <a:off x="9125712" y="2245995"/>
            <a:ext cx="1188720" cy="280035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5"/>
          <p:cNvSpPr/>
          <p:nvPr/>
        </p:nvSpPr>
        <p:spPr>
          <a:xfrm>
            <a:off x="9171432" y="2291715"/>
            <a:ext cx="109728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840" dirty="0"/>
          </a:p>
        </p:txBody>
      </p:sp>
      <p:sp>
        <p:nvSpPr>
          <p:cNvPr id="19" name="Shape 16"/>
          <p:cNvSpPr/>
          <p:nvPr/>
        </p:nvSpPr>
        <p:spPr>
          <a:xfrm>
            <a:off x="7022592" y="2526030"/>
            <a:ext cx="2103120" cy="280035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7"/>
          <p:cNvSpPr/>
          <p:nvPr/>
        </p:nvSpPr>
        <p:spPr>
          <a:xfrm>
            <a:off x="7068312" y="2571750"/>
            <a:ext cx="201168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FEATURE_COLS</a:t>
            </a:r>
            <a:endParaRPr lang="en-US" sz="840" dirty="0"/>
          </a:p>
        </p:txBody>
      </p:sp>
      <p:sp>
        <p:nvSpPr>
          <p:cNvPr id="21" name="Shape 18"/>
          <p:cNvSpPr/>
          <p:nvPr/>
        </p:nvSpPr>
        <p:spPr>
          <a:xfrm>
            <a:off x="9125712" y="2526030"/>
            <a:ext cx="1188720" cy="280035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9"/>
          <p:cNvSpPr/>
          <p:nvPr/>
        </p:nvSpPr>
        <p:spPr>
          <a:xfrm>
            <a:off x="9171432" y="2571750"/>
            <a:ext cx="109728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5</a:t>
            </a:r>
            <a:endParaRPr lang="en-US" sz="840" dirty="0"/>
          </a:p>
        </p:txBody>
      </p:sp>
      <p:sp>
        <p:nvSpPr>
          <p:cNvPr id="23" name="Shape 20"/>
          <p:cNvSpPr/>
          <p:nvPr/>
        </p:nvSpPr>
        <p:spPr>
          <a:xfrm>
            <a:off x="7022592" y="2806065"/>
            <a:ext cx="2103120" cy="280035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1"/>
          <p:cNvSpPr/>
          <p:nvPr/>
        </p:nvSpPr>
        <p:spPr>
          <a:xfrm>
            <a:off x="7068312" y="2851785"/>
            <a:ext cx="201168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LATENT_DIM</a:t>
            </a:r>
            <a:endParaRPr lang="en-US" sz="840" dirty="0"/>
          </a:p>
        </p:txBody>
      </p:sp>
      <p:sp>
        <p:nvSpPr>
          <p:cNvPr id="25" name="Shape 22"/>
          <p:cNvSpPr/>
          <p:nvPr/>
        </p:nvSpPr>
        <p:spPr>
          <a:xfrm>
            <a:off x="9125712" y="2806065"/>
            <a:ext cx="1188720" cy="280035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3"/>
          <p:cNvSpPr/>
          <p:nvPr/>
        </p:nvSpPr>
        <p:spPr>
          <a:xfrm>
            <a:off x="9171432" y="2851785"/>
            <a:ext cx="109728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8</a:t>
            </a:r>
            <a:endParaRPr lang="en-US" sz="840" dirty="0"/>
          </a:p>
        </p:txBody>
      </p:sp>
      <p:sp>
        <p:nvSpPr>
          <p:cNvPr id="27" name="Shape 24"/>
          <p:cNvSpPr/>
          <p:nvPr/>
        </p:nvSpPr>
        <p:spPr>
          <a:xfrm>
            <a:off x="7022592" y="3086100"/>
            <a:ext cx="2103120" cy="280035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5"/>
          <p:cNvSpPr/>
          <p:nvPr/>
        </p:nvSpPr>
        <p:spPr>
          <a:xfrm>
            <a:off x="7068312" y="3131820"/>
            <a:ext cx="201168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D_MODEL</a:t>
            </a:r>
            <a:endParaRPr lang="en-US" sz="840" dirty="0"/>
          </a:p>
        </p:txBody>
      </p:sp>
      <p:sp>
        <p:nvSpPr>
          <p:cNvPr id="29" name="Shape 26"/>
          <p:cNvSpPr/>
          <p:nvPr/>
        </p:nvSpPr>
        <p:spPr>
          <a:xfrm>
            <a:off x="9125712" y="3086100"/>
            <a:ext cx="1188720" cy="280035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7"/>
          <p:cNvSpPr/>
          <p:nvPr/>
        </p:nvSpPr>
        <p:spPr>
          <a:xfrm>
            <a:off x="9171432" y="3131820"/>
            <a:ext cx="109728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32</a:t>
            </a:r>
            <a:endParaRPr lang="en-US" sz="840" dirty="0"/>
          </a:p>
        </p:txBody>
      </p:sp>
      <p:sp>
        <p:nvSpPr>
          <p:cNvPr id="31" name="Shape 28"/>
          <p:cNvSpPr/>
          <p:nvPr/>
        </p:nvSpPr>
        <p:spPr>
          <a:xfrm>
            <a:off x="7022592" y="3366135"/>
            <a:ext cx="2103120" cy="280035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9"/>
          <p:cNvSpPr/>
          <p:nvPr/>
        </p:nvSpPr>
        <p:spPr>
          <a:xfrm>
            <a:off x="7068312" y="3411855"/>
            <a:ext cx="201168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NHEAD</a:t>
            </a:r>
            <a:endParaRPr lang="en-US" sz="840" dirty="0"/>
          </a:p>
        </p:txBody>
      </p:sp>
      <p:sp>
        <p:nvSpPr>
          <p:cNvPr id="33" name="Shape 30"/>
          <p:cNvSpPr/>
          <p:nvPr/>
        </p:nvSpPr>
        <p:spPr>
          <a:xfrm>
            <a:off x="9125712" y="3366135"/>
            <a:ext cx="1188720" cy="280035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1"/>
          <p:cNvSpPr/>
          <p:nvPr/>
        </p:nvSpPr>
        <p:spPr>
          <a:xfrm>
            <a:off x="9171432" y="3411855"/>
            <a:ext cx="109728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840" dirty="0"/>
          </a:p>
        </p:txBody>
      </p:sp>
      <p:sp>
        <p:nvSpPr>
          <p:cNvPr id="35" name="Shape 32"/>
          <p:cNvSpPr/>
          <p:nvPr/>
        </p:nvSpPr>
        <p:spPr>
          <a:xfrm>
            <a:off x="7022592" y="3646170"/>
            <a:ext cx="2103120" cy="280035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3"/>
          <p:cNvSpPr/>
          <p:nvPr/>
        </p:nvSpPr>
        <p:spPr>
          <a:xfrm>
            <a:off x="7068312" y="3691890"/>
            <a:ext cx="201168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BETA</a:t>
            </a:r>
            <a:endParaRPr lang="en-US" sz="840" dirty="0"/>
          </a:p>
        </p:txBody>
      </p:sp>
      <p:sp>
        <p:nvSpPr>
          <p:cNvPr id="37" name="Shape 34"/>
          <p:cNvSpPr/>
          <p:nvPr/>
        </p:nvSpPr>
        <p:spPr>
          <a:xfrm>
            <a:off x="9125712" y="3646170"/>
            <a:ext cx="1188720" cy="280035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5"/>
          <p:cNvSpPr/>
          <p:nvPr/>
        </p:nvSpPr>
        <p:spPr>
          <a:xfrm>
            <a:off x="9171432" y="3691890"/>
            <a:ext cx="109728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3.0</a:t>
            </a:r>
            <a:endParaRPr lang="en-US" sz="840" dirty="0"/>
          </a:p>
        </p:txBody>
      </p:sp>
      <p:sp>
        <p:nvSpPr>
          <p:cNvPr id="39" name="Shape 36"/>
          <p:cNvSpPr/>
          <p:nvPr/>
        </p:nvSpPr>
        <p:spPr>
          <a:xfrm>
            <a:off x="7022592" y="3926205"/>
            <a:ext cx="2103120" cy="280035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7"/>
          <p:cNvSpPr/>
          <p:nvPr/>
        </p:nvSpPr>
        <p:spPr>
          <a:xfrm>
            <a:off x="7068312" y="3971925"/>
            <a:ext cx="201168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EPOCHS</a:t>
            </a:r>
            <a:endParaRPr lang="en-US" sz="840" dirty="0"/>
          </a:p>
        </p:txBody>
      </p:sp>
      <p:sp>
        <p:nvSpPr>
          <p:cNvPr id="41" name="Shape 38"/>
          <p:cNvSpPr/>
          <p:nvPr/>
        </p:nvSpPr>
        <p:spPr>
          <a:xfrm>
            <a:off x="9125712" y="3926205"/>
            <a:ext cx="1188720" cy="280035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9"/>
          <p:cNvSpPr/>
          <p:nvPr/>
        </p:nvSpPr>
        <p:spPr>
          <a:xfrm>
            <a:off x="9171432" y="3971925"/>
            <a:ext cx="1097280" cy="188595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4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</a:t>
            </a:r>
            <a:endParaRPr lang="en-US" sz="840" dirty="0"/>
          </a:p>
        </p:txBody>
      </p:sp>
      <p:sp>
        <p:nvSpPr>
          <p:cNvPr id="43" name="Shape 40"/>
          <p:cNvSpPr/>
          <p:nvPr/>
        </p:nvSpPr>
        <p:spPr>
          <a:xfrm>
            <a:off x="2286000" y="5623560"/>
            <a:ext cx="7406640" cy="256032"/>
          </a:xfrm>
          <a:prstGeom prst="roundRect">
            <a:avLst>
              <a:gd name="adj" fmla="val 28571"/>
            </a:avLst>
          </a:prstGeom>
          <a:solidFill>
            <a:srgbClr val="EAF8F4"/>
          </a:solidFill>
          <a:ln w="12700">
            <a:solidFill>
              <a:srgbClr val="1F6F6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41"/>
          <p:cNvSpPr/>
          <p:nvPr/>
        </p:nvSpPr>
        <p:spPr>
          <a:xfrm>
            <a:off x="2359152" y="5673852"/>
            <a:ext cx="72603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阈值：normal 重构误差 95 分位数；训练阶段不使用故障标签。</a:t>
            </a:r>
            <a:endParaRPr lang="en-US" sz="820" dirty="0"/>
          </a:p>
        </p:txBody>
      </p:sp>
      <p:sp>
        <p:nvSpPr>
          <p:cNvPr id="45" name="Text 42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34</a:t>
            </a:r>
            <a:endParaRPr lang="en-US" sz="7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DA-VAE Results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DA-VAE 异常检测结果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入口服务和核心业务服务异常比例较高，说明故障影响沿调用链扩散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85800" y="1298448"/>
            <a:ext cx="539496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/mnt/data/report_assets/p38_img02_4500x1800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45870" y="1408176"/>
            <a:ext cx="4274820" cy="17099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3282696"/>
            <a:ext cx="5120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coupon-service 异常分数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263640" y="1298448"/>
            <a:ext cx="5257800" cy="2240280"/>
          </a:xfrm>
          <a:prstGeom prst="roundRect">
            <a:avLst>
              <a:gd name="adj" fmla="val 4898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1" descr="/mnt/data/report_assets/p39_img02_4500x180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55130" y="1408176"/>
            <a:ext cx="4274820" cy="17099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6400800" y="3282696"/>
            <a:ext cx="498348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inventory-service 异常分数</a:t>
            </a:r>
            <a:endParaRPr lang="en-US" sz="780" dirty="0"/>
          </a:p>
        </p:txBody>
      </p:sp>
      <p:sp>
        <p:nvSpPr>
          <p:cNvPr id="12" name="Shape 8"/>
          <p:cNvSpPr/>
          <p:nvPr/>
        </p:nvSpPr>
        <p:spPr>
          <a:xfrm>
            <a:off x="685800" y="3703320"/>
            <a:ext cx="10835640" cy="1938528"/>
          </a:xfrm>
          <a:prstGeom prst="roundRect">
            <a:avLst>
              <a:gd name="adj" fmla="val 5660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9"/>
          <p:cNvSpPr/>
          <p:nvPr/>
        </p:nvSpPr>
        <p:spPr>
          <a:xfrm>
            <a:off x="960120" y="3950208"/>
            <a:ext cx="2377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fault 窗口异常比例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2743200" y="4354982"/>
            <a:ext cx="1965960" cy="10729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747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coupon</a:t>
            </a:r>
            <a:endParaRPr lang="en-US" sz="747" dirty="0"/>
          </a:p>
        </p:txBody>
      </p:sp>
      <p:sp>
        <p:nvSpPr>
          <p:cNvPr id="15" name="Shape 11"/>
          <p:cNvSpPr/>
          <p:nvPr/>
        </p:nvSpPr>
        <p:spPr>
          <a:xfrm>
            <a:off x="4828032" y="4378391"/>
            <a:ext cx="1327755" cy="87782"/>
          </a:xfrm>
          <a:prstGeom prst="roundRect">
            <a:avLst>
              <a:gd name="adj" fmla="val 41667"/>
            </a:avLst>
          </a:prstGeom>
          <a:solidFill>
            <a:srgbClr val="F59E0B"/>
          </a:solidFill>
          <a:ln w="12700">
            <a:solidFill>
              <a:srgbClr val="F59E0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2"/>
          <p:cNvSpPr/>
          <p:nvPr/>
        </p:nvSpPr>
        <p:spPr>
          <a:xfrm>
            <a:off x="10104120" y="4351081"/>
            <a:ext cx="594360" cy="10729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7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20.56%</a:t>
            </a:r>
            <a:endParaRPr lang="en-US" sz="747" dirty="0"/>
          </a:p>
        </p:txBody>
      </p:sp>
      <p:sp>
        <p:nvSpPr>
          <p:cNvPr id="17" name="Text 13"/>
          <p:cNvSpPr/>
          <p:nvPr/>
        </p:nvSpPr>
        <p:spPr>
          <a:xfrm>
            <a:off x="2743200" y="4550054"/>
            <a:ext cx="1965960" cy="10729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747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inventory</a:t>
            </a:r>
            <a:endParaRPr lang="en-US" sz="747" dirty="0"/>
          </a:p>
        </p:txBody>
      </p:sp>
      <p:sp>
        <p:nvSpPr>
          <p:cNvPr id="18" name="Shape 14"/>
          <p:cNvSpPr/>
          <p:nvPr/>
        </p:nvSpPr>
        <p:spPr>
          <a:xfrm>
            <a:off x="4828032" y="4573463"/>
            <a:ext cx="3063651" cy="87782"/>
          </a:xfrm>
          <a:prstGeom prst="roundRect">
            <a:avLst>
              <a:gd name="adj" fmla="val 41667"/>
            </a:avLst>
          </a:prstGeom>
          <a:solidFill>
            <a:srgbClr val="5EC7A1"/>
          </a:solidFill>
          <a:ln w="12700">
            <a:solidFill>
              <a:srgbClr val="5EC7A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5"/>
          <p:cNvSpPr/>
          <p:nvPr/>
        </p:nvSpPr>
        <p:spPr>
          <a:xfrm>
            <a:off x="10104120" y="4546153"/>
            <a:ext cx="594360" cy="10729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7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47.44%</a:t>
            </a:r>
            <a:endParaRPr lang="en-US" sz="747" dirty="0"/>
          </a:p>
        </p:txBody>
      </p:sp>
      <p:sp>
        <p:nvSpPr>
          <p:cNvPr id="20" name="Text 16"/>
          <p:cNvSpPr/>
          <p:nvPr/>
        </p:nvSpPr>
        <p:spPr>
          <a:xfrm>
            <a:off x="2743200" y="4745126"/>
            <a:ext cx="1965960" cy="10729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747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frontend</a:t>
            </a:r>
            <a:endParaRPr lang="en-US" sz="747" dirty="0"/>
          </a:p>
        </p:txBody>
      </p:sp>
      <p:sp>
        <p:nvSpPr>
          <p:cNvPr id="21" name="Shape 17"/>
          <p:cNvSpPr/>
          <p:nvPr/>
        </p:nvSpPr>
        <p:spPr>
          <a:xfrm>
            <a:off x="4828032" y="4768535"/>
            <a:ext cx="5119863" cy="87782"/>
          </a:xfrm>
          <a:prstGeom prst="roundRect">
            <a:avLst>
              <a:gd name="adj" fmla="val 41667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8"/>
          <p:cNvSpPr/>
          <p:nvPr/>
        </p:nvSpPr>
        <p:spPr>
          <a:xfrm>
            <a:off x="10104120" y="4741225"/>
            <a:ext cx="594360" cy="10729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7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79.28%</a:t>
            </a:r>
            <a:endParaRPr lang="en-US" sz="747" dirty="0"/>
          </a:p>
        </p:txBody>
      </p:sp>
      <p:sp>
        <p:nvSpPr>
          <p:cNvPr id="23" name="Text 19"/>
          <p:cNvSpPr/>
          <p:nvPr/>
        </p:nvSpPr>
        <p:spPr>
          <a:xfrm>
            <a:off x="2743200" y="4940198"/>
            <a:ext cx="1965960" cy="10729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747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checkout</a:t>
            </a:r>
            <a:endParaRPr lang="en-US" sz="747" dirty="0"/>
          </a:p>
        </p:txBody>
      </p:sp>
      <p:sp>
        <p:nvSpPr>
          <p:cNvPr id="24" name="Shape 20"/>
          <p:cNvSpPr/>
          <p:nvPr/>
        </p:nvSpPr>
        <p:spPr>
          <a:xfrm>
            <a:off x="4828032" y="4963607"/>
            <a:ext cx="5051408" cy="87782"/>
          </a:xfrm>
          <a:prstGeom prst="roundRect">
            <a:avLst>
              <a:gd name="adj" fmla="val 41667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5" name="Text 21"/>
          <p:cNvSpPr/>
          <p:nvPr/>
        </p:nvSpPr>
        <p:spPr>
          <a:xfrm>
            <a:off x="10104120" y="4936297"/>
            <a:ext cx="594360" cy="10729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7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78.22%</a:t>
            </a:r>
            <a:endParaRPr lang="en-US" sz="747" dirty="0"/>
          </a:p>
        </p:txBody>
      </p:sp>
      <p:sp>
        <p:nvSpPr>
          <p:cNvPr id="26" name="Text 22"/>
          <p:cNvSpPr/>
          <p:nvPr/>
        </p:nvSpPr>
        <p:spPr>
          <a:xfrm>
            <a:off x="2743200" y="5135270"/>
            <a:ext cx="1965960" cy="10729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747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productcatalog</a:t>
            </a:r>
            <a:endParaRPr lang="en-US" sz="747" dirty="0"/>
          </a:p>
        </p:txBody>
      </p:sp>
      <p:sp>
        <p:nvSpPr>
          <p:cNvPr id="27" name="Shape 23"/>
          <p:cNvSpPr/>
          <p:nvPr/>
        </p:nvSpPr>
        <p:spPr>
          <a:xfrm>
            <a:off x="4828032" y="5158679"/>
            <a:ext cx="5012015" cy="87782"/>
          </a:xfrm>
          <a:prstGeom prst="roundRect">
            <a:avLst>
              <a:gd name="adj" fmla="val 41667"/>
            </a:avLst>
          </a:prstGeom>
          <a:solidFill>
            <a:srgbClr val="EF4444"/>
          </a:solidFill>
          <a:ln w="12700">
            <a:solidFill>
              <a:srgbClr val="EF4444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4"/>
          <p:cNvSpPr/>
          <p:nvPr/>
        </p:nvSpPr>
        <p:spPr>
          <a:xfrm>
            <a:off x="10104120" y="5131369"/>
            <a:ext cx="594360" cy="10729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7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77.61%</a:t>
            </a:r>
            <a:endParaRPr lang="en-US" sz="747" dirty="0"/>
          </a:p>
        </p:txBody>
      </p:sp>
      <p:sp>
        <p:nvSpPr>
          <p:cNvPr id="29" name="Text 25"/>
          <p:cNvSpPr/>
          <p:nvPr/>
        </p:nvSpPr>
        <p:spPr>
          <a:xfrm>
            <a:off x="2743200" y="5330342"/>
            <a:ext cx="1965960" cy="10729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r">
              <a:buNone/>
            </a:pPr>
            <a:r>
              <a:rPr lang="en-US" sz="747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redis-cart</a:t>
            </a:r>
            <a:endParaRPr lang="en-US" sz="747" dirty="0"/>
          </a:p>
        </p:txBody>
      </p:sp>
      <p:sp>
        <p:nvSpPr>
          <p:cNvPr id="30" name="Shape 26"/>
          <p:cNvSpPr/>
          <p:nvPr/>
        </p:nvSpPr>
        <p:spPr>
          <a:xfrm>
            <a:off x="4828032" y="5353751"/>
            <a:ext cx="2457896" cy="87782"/>
          </a:xfrm>
          <a:prstGeom prst="roundRect">
            <a:avLst>
              <a:gd name="adj" fmla="val 41667"/>
            </a:avLst>
          </a:prstGeom>
          <a:solidFill>
            <a:srgbClr val="5EC7A1"/>
          </a:solidFill>
          <a:ln w="12700">
            <a:solidFill>
              <a:srgbClr val="5EC7A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1" name="Text 27"/>
          <p:cNvSpPr/>
          <p:nvPr/>
        </p:nvSpPr>
        <p:spPr>
          <a:xfrm>
            <a:off x="10104120" y="5326441"/>
            <a:ext cx="594360" cy="10729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l">
              <a:buNone/>
            </a:pPr>
            <a:r>
              <a:rPr lang="en-US" sz="747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38.06%</a:t>
            </a:r>
            <a:endParaRPr lang="en-US" sz="747" dirty="0"/>
          </a:p>
        </p:txBody>
      </p:sp>
      <p:sp>
        <p:nvSpPr>
          <p:cNvPr id="32" name="Text 28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35</a:t>
            </a:r>
            <a:endParaRPr lang="en-US" sz="7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KPIRoot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KPIRoot 根因定位：从异常到候选服务排序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融合 SAX 趋势相似度、Jaccard 相似度与 Granger 因果证据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85800" y="1298448"/>
            <a:ext cx="576072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/mnt/data/report_assets/p40_img02_1672x9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53427" y="1408176"/>
            <a:ext cx="4825467" cy="27157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4288536"/>
            <a:ext cx="5486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KPIRoot 根因定位适配图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6720840" y="1298448"/>
            <a:ext cx="4526280" cy="3246120"/>
          </a:xfrm>
          <a:prstGeom prst="roundRect">
            <a:avLst>
              <a:gd name="adj" fmla="val 3380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6995160" y="1591056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核心逻辑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6967728" y="1993392"/>
            <a:ext cx="3657600" cy="1691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1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experiment_id 处理每次故障</a:t>
            </a:r>
            <a:endParaRPr lang="en-US" sz="1120" dirty="0"/>
          </a:p>
          <a:p>
            <a:r>
              <a:rPr lang="en-US" sz="11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 fault_phase 区分故障前/中</a:t>
            </a:r>
            <a:endParaRPr lang="en-US" sz="1120" dirty="0"/>
          </a:p>
          <a:p>
            <a:r>
              <a:rPr lang="en-US" sz="11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自动选择 alarm KPI</a:t>
            </a:r>
            <a:endParaRPr lang="en-US" sz="1120" dirty="0"/>
          </a:p>
          <a:p>
            <a:r>
              <a:rPr lang="en-US" sz="11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对候选服务计算多特征根因得分</a:t>
            </a:r>
            <a:endParaRPr lang="en-US" sz="1120" dirty="0"/>
          </a:p>
          <a:p>
            <a:r>
              <a:rPr lang="en-US" sz="11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 Top-K 根因服务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777240" y="4983480"/>
            <a:ext cx="10378440" cy="731520"/>
          </a:xfrm>
          <a:prstGeom prst="roundRect">
            <a:avLst>
              <a:gd name="adj" fmla="val 15000"/>
            </a:avLst>
          </a:prstGeom>
          <a:solidFill>
            <a:srgbClr val="F8FBFA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0"/>
          <p:cNvSpPr/>
          <p:nvPr/>
        </p:nvSpPr>
        <p:spPr>
          <a:xfrm>
            <a:off x="1051560" y="5248656"/>
            <a:ext cx="9738360" cy="1828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1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Score = λ · Similarity + (1-λ) · Causality，其中 λ=0.9；restart_count 权重最高，用于强化 Pod Kill 证据。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36</a:t>
            </a:r>
            <a:endParaRPr lang="en-US" sz="7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KPIRoot Results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KPIRoot 根因定位结果与评估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根因排名更符合工程排查习惯，但仍需结合拓扑和故障记录确认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58368" y="1298448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/mnt/data/report_assets/p41_img02_1908x106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1279" y="1408176"/>
            <a:ext cx="2648898" cy="14813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528" y="3054096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F001 Pod Kill 排名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4370832" y="1298448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1" descr="/mnt/data/report_assets/p42_img02_1908x1067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83743" y="1408176"/>
            <a:ext cx="2648898" cy="148132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507992" y="3054096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F003 CPU Stress 排名</a:t>
            </a:r>
            <a:endParaRPr lang="en-US" sz="780" dirty="0"/>
          </a:p>
        </p:txBody>
      </p:sp>
      <p:sp>
        <p:nvSpPr>
          <p:cNvPr id="12" name="Shape 8"/>
          <p:cNvSpPr/>
          <p:nvPr/>
        </p:nvSpPr>
        <p:spPr>
          <a:xfrm>
            <a:off x="8083296" y="1298448"/>
            <a:ext cx="3474720" cy="201168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2" descr="/mnt/data/report_assets/p42_img03_1908x1067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96207" y="1408176"/>
            <a:ext cx="2648898" cy="148132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220456" y="3054096"/>
            <a:ext cx="320040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F004 Network Delay 排名</a:t>
            </a:r>
            <a:endParaRPr lang="en-US" sz="780" dirty="0"/>
          </a:p>
        </p:txBody>
      </p:sp>
      <p:sp>
        <p:nvSpPr>
          <p:cNvPr id="15" name="Shape 10"/>
          <p:cNvSpPr/>
          <p:nvPr/>
        </p:nvSpPr>
        <p:spPr>
          <a:xfrm>
            <a:off x="658368" y="3767328"/>
            <a:ext cx="5303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1"/>
          <p:cNvSpPr/>
          <p:nvPr/>
        </p:nvSpPr>
        <p:spPr>
          <a:xfrm>
            <a:off x="914400" y="40416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优势</a:t>
            </a:r>
            <a:endParaRPr lang="en-US" sz="1400" dirty="0"/>
          </a:p>
        </p:txBody>
      </p:sp>
      <p:sp>
        <p:nvSpPr>
          <p:cNvPr id="17" name="Text 12"/>
          <p:cNvSpPr/>
          <p:nvPr/>
        </p:nvSpPr>
        <p:spPr>
          <a:xfrm>
            <a:off x="914400" y="4434840"/>
            <a:ext cx="434340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输出全服务 Top-K 排名</a:t>
            </a:r>
            <a:endParaRPr lang="en-US" sz="1080" dirty="0"/>
          </a:p>
          <a:p>
            <a:r>
              <a:rPr lang="en-US" sz="10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比异常分数更容易用于排查</a:t>
            </a:r>
            <a:endParaRPr lang="en-US" sz="1080" dirty="0"/>
          </a:p>
          <a:p>
            <a:r>
              <a:rPr lang="en-US" sz="10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能融合重启、错误率、延迟等证据</a:t>
            </a:r>
            <a:endParaRPr lang="en-US" sz="1080" dirty="0"/>
          </a:p>
        </p:txBody>
      </p:sp>
      <p:sp>
        <p:nvSpPr>
          <p:cNvPr id="18" name="Shape 13"/>
          <p:cNvSpPr/>
          <p:nvPr/>
        </p:nvSpPr>
        <p:spPr>
          <a:xfrm>
            <a:off x="6254496" y="3767328"/>
            <a:ext cx="530352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9" name="Text 14"/>
          <p:cNvSpPr/>
          <p:nvPr/>
        </p:nvSpPr>
        <p:spPr>
          <a:xfrm>
            <a:off x="6510528" y="4041648"/>
            <a:ext cx="1371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局限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510528" y="4434840"/>
            <a:ext cx="4343400" cy="74980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异常会沿调用链扩散</a:t>
            </a:r>
            <a:endParaRPr lang="en-US" sz="1080" dirty="0"/>
          </a:p>
          <a:p>
            <a:r>
              <a:rPr lang="en-US" sz="10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相似性权重较高时可能抬高被影响服务</a:t>
            </a:r>
            <a:endParaRPr lang="en-US" sz="1080" dirty="0"/>
          </a:p>
          <a:p>
            <a:r>
              <a:rPr lang="en-US" sz="10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需要结合 ChaosMesh 记录和拓扑确认</a:t>
            </a:r>
            <a:endParaRPr lang="en-US" sz="1080" dirty="0"/>
          </a:p>
        </p:txBody>
      </p:sp>
      <p:sp>
        <p:nvSpPr>
          <p:cNvPr id="21" name="Text 16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37</a:t>
            </a:r>
            <a:endParaRPr lang="en-US" sz="75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AIOps Agent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智能运维 Agent：安全边界内的辅助诊断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不自动操作集群；读取数据、识别异常、分类根因、输出诊断报告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85800" y="1298448"/>
            <a:ext cx="6583680" cy="4069080"/>
          </a:xfrm>
          <a:prstGeom prst="roundRect">
            <a:avLst>
              <a:gd name="adj" fmla="val 2697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/mnt/data/report_assets/p45_img02_1672x9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3775" y="1408176"/>
            <a:ext cx="6287729" cy="353872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5111496"/>
            <a:ext cx="630936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AIOps Agent 总体概念图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7543800" y="1298448"/>
            <a:ext cx="3749040" cy="4069080"/>
          </a:xfrm>
          <a:prstGeom prst="roundRect">
            <a:avLst>
              <a:gd name="adj" fmla="val 2927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0" name="Text 7"/>
          <p:cNvSpPr/>
          <p:nvPr/>
        </p:nvSpPr>
        <p:spPr>
          <a:xfrm>
            <a:off x="7818120" y="1600200"/>
            <a:ext cx="2286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输入与输出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7790688" y="1993392"/>
            <a:ext cx="2971800" cy="1965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0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输入：Prometheus Metrics、ChaosMesh Records、Algorithm Results、Service Topology</a:t>
            </a:r>
            <a:endParaRPr lang="en-US" sz="1080" dirty="0"/>
          </a:p>
          <a:p>
            <a:r>
              <a:rPr lang="en-US" sz="10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输出：诊断结论、影响范围、人工确认命令、运维建议</a:t>
            </a:r>
            <a:endParaRPr lang="en-US" sz="1080" dirty="0"/>
          </a:p>
          <a:p>
            <a:r>
              <a:rPr lang="en-US" sz="108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安全：不直接删除 Pod、不直接重启 Deployment、不自动扩缩容</a:t>
            </a:r>
            <a:endParaRPr lang="en-US" sz="1080" dirty="0"/>
          </a:p>
        </p:txBody>
      </p:sp>
      <p:sp>
        <p:nvSpPr>
          <p:cNvPr id="12" name="Text 9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38</a:t>
            </a:r>
            <a:endParaRPr lang="en-US" sz="7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AIOps Output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Agent 诊断报告与闭环运维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算法结果、故障标签和服务拓扑被组织为可展示的诊断能力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658368" y="1298448"/>
            <a:ext cx="37490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7" name="Image 0" descr="/mnt/data/report_assets/p46_img02_1672x94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38707" y="1408176"/>
            <a:ext cx="2388362" cy="134416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95528" y="2916936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异常分析与根因分类</a:t>
            </a:r>
            <a:endParaRPr lang="en-US" sz="780" dirty="0"/>
          </a:p>
        </p:txBody>
      </p:sp>
      <p:sp>
        <p:nvSpPr>
          <p:cNvPr id="9" name="Shape 6"/>
          <p:cNvSpPr/>
          <p:nvPr/>
        </p:nvSpPr>
        <p:spPr>
          <a:xfrm>
            <a:off x="4553712" y="1298448"/>
            <a:ext cx="374904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0" name="Image 1" descr="/mnt/data/report_assets/p47_img02_1672x941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34051" y="1408176"/>
            <a:ext cx="2388362" cy="1344168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690872" y="2916936"/>
            <a:ext cx="34747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诊断报告输出</a:t>
            </a:r>
            <a:endParaRPr lang="en-US" sz="780" dirty="0"/>
          </a:p>
        </p:txBody>
      </p:sp>
      <p:sp>
        <p:nvSpPr>
          <p:cNvPr id="12" name="Shape 8"/>
          <p:cNvSpPr/>
          <p:nvPr/>
        </p:nvSpPr>
        <p:spPr>
          <a:xfrm>
            <a:off x="8449056" y="1298448"/>
            <a:ext cx="3108960" cy="1874520"/>
          </a:xfrm>
          <a:prstGeom prst="roundRect">
            <a:avLst>
              <a:gd name="adj" fmla="val 5854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13" name="Image 2" descr="/mnt/data/report_assets/p48_img02_1672x941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809355" y="1408176"/>
            <a:ext cx="2388362" cy="134416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8586216" y="2916936"/>
            <a:ext cx="283464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78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闭环运维图</a:t>
            </a:r>
            <a:endParaRPr lang="en-US" sz="780" dirty="0"/>
          </a:p>
        </p:txBody>
      </p:sp>
      <p:sp>
        <p:nvSpPr>
          <p:cNvPr id="15" name="Shape 10"/>
          <p:cNvSpPr/>
          <p:nvPr/>
        </p:nvSpPr>
        <p:spPr>
          <a:xfrm>
            <a:off x="841248" y="3657600"/>
            <a:ext cx="10378440" cy="1691640"/>
          </a:xfrm>
          <a:prstGeom prst="roundRect">
            <a:avLst>
              <a:gd name="adj" fmla="val 6486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1"/>
          <p:cNvSpPr/>
          <p:nvPr/>
        </p:nvSpPr>
        <p:spPr>
          <a:xfrm>
            <a:off x="1097280" y="3913632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当前诊断结果示例</a:t>
            </a:r>
            <a:endParaRPr lang="en-US" sz="1400" dirty="0"/>
          </a:p>
        </p:txBody>
      </p:sp>
      <p:sp>
        <p:nvSpPr>
          <p:cNvPr id="17" name="Shape 12"/>
          <p:cNvSpPr/>
          <p:nvPr/>
        </p:nvSpPr>
        <p:spPr>
          <a:xfrm>
            <a:off x="1143000" y="4315968"/>
            <a:ext cx="3657600" cy="173736"/>
          </a:xfrm>
          <a:prstGeom prst="rect">
            <a:avLst/>
          </a:prstGeom>
          <a:solidFill>
            <a:srgbClr val="5EC7A1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3"/>
          <p:cNvSpPr/>
          <p:nvPr/>
        </p:nvSpPr>
        <p:spPr>
          <a:xfrm>
            <a:off x="1188720" y="4361688"/>
            <a:ext cx="35661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服务</a:t>
            </a:r>
            <a:endParaRPr lang="en-US" sz="900" dirty="0"/>
          </a:p>
        </p:txBody>
      </p:sp>
      <p:sp>
        <p:nvSpPr>
          <p:cNvPr id="19" name="Shape 14"/>
          <p:cNvSpPr/>
          <p:nvPr/>
        </p:nvSpPr>
        <p:spPr>
          <a:xfrm>
            <a:off x="4800600" y="4315968"/>
            <a:ext cx="2926080" cy="173736"/>
          </a:xfrm>
          <a:prstGeom prst="rect">
            <a:avLst/>
          </a:prstGeom>
          <a:solidFill>
            <a:srgbClr val="5EC7A1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5"/>
          <p:cNvSpPr/>
          <p:nvPr/>
        </p:nvSpPr>
        <p:spPr>
          <a:xfrm>
            <a:off x="4846320" y="4361688"/>
            <a:ext cx="28346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根因分类</a:t>
            </a:r>
            <a:endParaRPr lang="en-US" sz="900" dirty="0"/>
          </a:p>
        </p:txBody>
      </p:sp>
      <p:sp>
        <p:nvSpPr>
          <p:cNvPr id="21" name="Shape 16"/>
          <p:cNvSpPr/>
          <p:nvPr/>
        </p:nvSpPr>
        <p:spPr>
          <a:xfrm>
            <a:off x="7726680" y="4315968"/>
            <a:ext cx="2103120" cy="173736"/>
          </a:xfrm>
          <a:prstGeom prst="rect">
            <a:avLst/>
          </a:prstGeom>
          <a:solidFill>
            <a:srgbClr val="5EC7A1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17"/>
          <p:cNvSpPr/>
          <p:nvPr/>
        </p:nvSpPr>
        <p:spPr>
          <a:xfrm>
            <a:off x="7772400" y="4361688"/>
            <a:ext cx="2011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0000" lnSpcReduction="20000"/>
          </a:bodyPr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严重程度</a:t>
            </a:r>
            <a:endParaRPr lang="en-US" sz="900" dirty="0"/>
          </a:p>
        </p:txBody>
      </p:sp>
      <p:sp>
        <p:nvSpPr>
          <p:cNvPr id="23" name="Shape 18"/>
          <p:cNvSpPr/>
          <p:nvPr/>
        </p:nvSpPr>
        <p:spPr>
          <a:xfrm>
            <a:off x="1143000" y="4489704"/>
            <a:ext cx="3657600" cy="173736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19"/>
          <p:cNvSpPr/>
          <p:nvPr/>
        </p:nvSpPr>
        <p:spPr>
          <a:xfrm>
            <a:off x="1188720" y="4535424"/>
            <a:ext cx="35661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coupon-service</a:t>
            </a:r>
            <a:endParaRPr lang="en-US" sz="820" dirty="0"/>
          </a:p>
        </p:txBody>
      </p:sp>
      <p:sp>
        <p:nvSpPr>
          <p:cNvPr id="25" name="Shape 20"/>
          <p:cNvSpPr/>
          <p:nvPr/>
        </p:nvSpPr>
        <p:spPr>
          <a:xfrm>
            <a:off x="4800600" y="4489704"/>
            <a:ext cx="2926080" cy="173736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1"/>
          <p:cNvSpPr/>
          <p:nvPr/>
        </p:nvSpPr>
        <p:spPr>
          <a:xfrm>
            <a:off x="4846320" y="4535424"/>
            <a:ext cx="28346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pod_kill</a:t>
            </a:r>
            <a:endParaRPr lang="en-US" sz="820" dirty="0"/>
          </a:p>
        </p:txBody>
      </p:sp>
      <p:sp>
        <p:nvSpPr>
          <p:cNvPr id="27" name="Shape 22"/>
          <p:cNvSpPr/>
          <p:nvPr/>
        </p:nvSpPr>
        <p:spPr>
          <a:xfrm>
            <a:off x="7726680" y="4489704"/>
            <a:ext cx="2103120" cy="173736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3"/>
          <p:cNvSpPr/>
          <p:nvPr/>
        </p:nvSpPr>
        <p:spPr>
          <a:xfrm>
            <a:off x="7772400" y="4535424"/>
            <a:ext cx="2011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</a:t>
            </a:r>
            <a:endParaRPr lang="en-US" sz="820" dirty="0"/>
          </a:p>
        </p:txBody>
      </p:sp>
      <p:sp>
        <p:nvSpPr>
          <p:cNvPr id="29" name="Shape 24"/>
          <p:cNvSpPr/>
          <p:nvPr/>
        </p:nvSpPr>
        <p:spPr>
          <a:xfrm>
            <a:off x="1143000" y="4663440"/>
            <a:ext cx="3657600" cy="173736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5"/>
          <p:cNvSpPr/>
          <p:nvPr/>
        </p:nvSpPr>
        <p:spPr>
          <a:xfrm>
            <a:off x="1188720" y="4709160"/>
            <a:ext cx="35661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frontend</a:t>
            </a:r>
            <a:endParaRPr lang="en-US" sz="820" dirty="0"/>
          </a:p>
        </p:txBody>
      </p:sp>
      <p:sp>
        <p:nvSpPr>
          <p:cNvPr id="31" name="Shape 26"/>
          <p:cNvSpPr/>
          <p:nvPr/>
        </p:nvSpPr>
        <p:spPr>
          <a:xfrm>
            <a:off x="4800600" y="4663440"/>
            <a:ext cx="2926080" cy="173736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27"/>
          <p:cNvSpPr/>
          <p:nvPr/>
        </p:nvSpPr>
        <p:spPr>
          <a:xfrm>
            <a:off x="4846320" y="4709160"/>
            <a:ext cx="28346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network_delay</a:t>
            </a:r>
            <a:endParaRPr lang="en-US" sz="820" dirty="0"/>
          </a:p>
        </p:txBody>
      </p:sp>
      <p:sp>
        <p:nvSpPr>
          <p:cNvPr id="33" name="Shape 28"/>
          <p:cNvSpPr/>
          <p:nvPr/>
        </p:nvSpPr>
        <p:spPr>
          <a:xfrm>
            <a:off x="7726680" y="4663440"/>
            <a:ext cx="2103120" cy="173736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29"/>
          <p:cNvSpPr/>
          <p:nvPr/>
        </p:nvSpPr>
        <p:spPr>
          <a:xfrm>
            <a:off x="7772400" y="4709160"/>
            <a:ext cx="2011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</a:t>
            </a:r>
            <a:endParaRPr lang="en-US" sz="820" dirty="0"/>
          </a:p>
        </p:txBody>
      </p:sp>
      <p:sp>
        <p:nvSpPr>
          <p:cNvPr id="35" name="Shape 30"/>
          <p:cNvSpPr/>
          <p:nvPr/>
        </p:nvSpPr>
        <p:spPr>
          <a:xfrm>
            <a:off x="1143000" y="4837176"/>
            <a:ext cx="3657600" cy="173736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6" name="Text 31"/>
          <p:cNvSpPr/>
          <p:nvPr/>
        </p:nvSpPr>
        <p:spPr>
          <a:xfrm>
            <a:off x="1188720" y="4882896"/>
            <a:ext cx="35661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checkoutservice</a:t>
            </a:r>
            <a:endParaRPr lang="en-US" sz="820" dirty="0"/>
          </a:p>
        </p:txBody>
      </p:sp>
      <p:sp>
        <p:nvSpPr>
          <p:cNvPr id="37" name="Shape 32"/>
          <p:cNvSpPr/>
          <p:nvPr/>
        </p:nvSpPr>
        <p:spPr>
          <a:xfrm>
            <a:off x="4800600" y="4837176"/>
            <a:ext cx="2926080" cy="173736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8" name="Text 33"/>
          <p:cNvSpPr/>
          <p:nvPr/>
        </p:nvSpPr>
        <p:spPr>
          <a:xfrm>
            <a:off x="4846320" y="4882896"/>
            <a:ext cx="28346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memory_stress</a:t>
            </a:r>
            <a:endParaRPr lang="en-US" sz="820" dirty="0"/>
          </a:p>
        </p:txBody>
      </p:sp>
      <p:sp>
        <p:nvSpPr>
          <p:cNvPr id="39" name="Shape 34"/>
          <p:cNvSpPr/>
          <p:nvPr/>
        </p:nvSpPr>
        <p:spPr>
          <a:xfrm>
            <a:off x="7726680" y="4837176"/>
            <a:ext cx="2103120" cy="173736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0" name="Text 35"/>
          <p:cNvSpPr/>
          <p:nvPr/>
        </p:nvSpPr>
        <p:spPr>
          <a:xfrm>
            <a:off x="7772400" y="4882896"/>
            <a:ext cx="2011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</a:t>
            </a:r>
            <a:endParaRPr lang="en-US" sz="820" dirty="0"/>
          </a:p>
        </p:txBody>
      </p:sp>
      <p:sp>
        <p:nvSpPr>
          <p:cNvPr id="41" name="Shape 36"/>
          <p:cNvSpPr/>
          <p:nvPr/>
        </p:nvSpPr>
        <p:spPr>
          <a:xfrm>
            <a:off x="1143000" y="5010912"/>
            <a:ext cx="3657600" cy="173736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2" name="Text 37"/>
          <p:cNvSpPr/>
          <p:nvPr/>
        </p:nvSpPr>
        <p:spPr>
          <a:xfrm>
            <a:off x="1188720" y="5056632"/>
            <a:ext cx="356616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productcatalogservice</a:t>
            </a:r>
            <a:endParaRPr lang="en-US" sz="820" dirty="0"/>
          </a:p>
        </p:txBody>
      </p:sp>
      <p:sp>
        <p:nvSpPr>
          <p:cNvPr id="43" name="Shape 38"/>
          <p:cNvSpPr/>
          <p:nvPr/>
        </p:nvSpPr>
        <p:spPr>
          <a:xfrm>
            <a:off x="4800600" y="5010912"/>
            <a:ext cx="2926080" cy="173736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4" name="Text 39"/>
          <p:cNvSpPr/>
          <p:nvPr/>
        </p:nvSpPr>
        <p:spPr>
          <a:xfrm>
            <a:off x="4846320" y="5056632"/>
            <a:ext cx="283464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cpu_stress</a:t>
            </a:r>
            <a:endParaRPr lang="en-US" sz="820" dirty="0"/>
          </a:p>
        </p:txBody>
      </p:sp>
      <p:sp>
        <p:nvSpPr>
          <p:cNvPr id="45" name="Shape 40"/>
          <p:cNvSpPr/>
          <p:nvPr/>
        </p:nvSpPr>
        <p:spPr>
          <a:xfrm>
            <a:off x="7726680" y="5010912"/>
            <a:ext cx="2103120" cy="173736"/>
          </a:xfrm>
          <a:prstGeom prst="rect">
            <a:avLst/>
          </a:prstGeom>
          <a:solidFill>
            <a:srgbClr val="FFFFFF"/>
          </a:solidFill>
          <a:ln w="6985">
            <a:solidFill>
              <a:srgbClr val="D7E7E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6" name="Text 41"/>
          <p:cNvSpPr/>
          <p:nvPr/>
        </p:nvSpPr>
        <p:spPr>
          <a:xfrm>
            <a:off x="7772400" y="5056632"/>
            <a:ext cx="2011680" cy="822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77500" lnSpcReduction="20000"/>
          </a:bodyPr>
          <a:lstStyle/>
          <a:p>
            <a:pPr marL="0" indent="0" algn="ctr">
              <a:buNone/>
            </a:pPr>
            <a:r>
              <a:rPr lang="en-US" sz="82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high</a:t>
            </a:r>
            <a:endParaRPr lang="en-US" sz="820" dirty="0"/>
          </a:p>
        </p:txBody>
      </p:sp>
      <p:sp>
        <p:nvSpPr>
          <p:cNvPr id="47" name="Text 42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39</a:t>
            </a:r>
            <a:endParaRPr lang="en-US" sz="75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530352" y="457200"/>
            <a:ext cx="621792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  <a:headEnd type="none"/>
            <a:tailEnd type="non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530352" y="585216"/>
            <a:ext cx="8138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3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项目主页与答辩结束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548640" y="1051560"/>
            <a:ext cx="8229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源码、配置、数据、结果、报告和 PPT 已在 GitHub 仓库中整理</a:t>
            </a:r>
            <a:endParaRPr lang="en-US" sz="1020" dirty="0"/>
          </a:p>
        </p:txBody>
      </p:sp>
      <p:sp>
        <p:nvSpPr>
          <p:cNvPr id="6" name="Shape 4"/>
          <p:cNvSpPr/>
          <p:nvPr/>
        </p:nvSpPr>
        <p:spPr>
          <a:xfrm>
            <a:off x="777240" y="1325880"/>
            <a:ext cx="7452360" cy="4434840"/>
          </a:xfrm>
          <a:prstGeom prst="roundRect">
            <a:avLst>
              <a:gd name="adj" fmla="val 2474"/>
            </a:avLst>
          </a:prstGeom>
          <a:solidFill>
            <a:srgbClr val="FFFFFF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1005840" y="1627632"/>
            <a:ext cx="6995160" cy="411480"/>
          </a:xfrm>
          <a:prstGeom prst="roundRect">
            <a:avLst>
              <a:gd name="adj" fmla="val 17778"/>
            </a:avLst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Text 6"/>
          <p:cNvSpPr/>
          <p:nvPr/>
        </p:nvSpPr>
        <p:spPr>
          <a:xfrm>
            <a:off x="1234440" y="1764792"/>
            <a:ext cx="5303520" cy="1097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86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github.com / Affordan / online-boutique-testing-maintenance</a:t>
            </a:r>
            <a:endParaRPr lang="en-US" sz="860" dirty="0"/>
          </a:p>
        </p:txBody>
      </p:sp>
      <p:sp>
        <p:nvSpPr>
          <p:cNvPr id="9" name="Text 7"/>
          <p:cNvSpPr/>
          <p:nvPr/>
        </p:nvSpPr>
        <p:spPr>
          <a:xfrm>
            <a:off x="1143000" y="2331720"/>
            <a:ext cx="6217920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8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Online-Boutique 微服务测试与维护大作业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143000" y="2880360"/>
            <a:ext cx="6309360" cy="5669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110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本仓库围绕微服务系统完成本地部署、监控、故障注入、自动化测试、性能测试、异常数据采集、论文算法复现，并在原系统基础上新增业务微服务。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143000" y="3794760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EAF8F4"/>
          </a:solidFill>
          <a:ln w="12700">
            <a:solidFill>
              <a:srgbClr val="5EC7A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1216152" y="3845052"/>
            <a:ext cx="1088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5EC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 agent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2834640" y="3794760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EAF8F4"/>
          </a:solidFill>
          <a:ln w="12700">
            <a:solidFill>
              <a:srgbClr val="5EC7A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2907792" y="3845052"/>
            <a:ext cx="1088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5EC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 algorithms</a:t>
            </a:r>
            <a:endParaRPr lang="en-US" sz="820" dirty="0"/>
          </a:p>
        </p:txBody>
      </p:sp>
      <p:sp>
        <p:nvSpPr>
          <p:cNvPr id="15" name="Shape 13"/>
          <p:cNvSpPr/>
          <p:nvPr/>
        </p:nvSpPr>
        <p:spPr>
          <a:xfrm>
            <a:off x="4526280" y="3794760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EAF8F4"/>
          </a:solidFill>
          <a:ln w="12700">
            <a:solidFill>
              <a:srgbClr val="5EC7A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6" name="Text 14"/>
          <p:cNvSpPr/>
          <p:nvPr/>
        </p:nvSpPr>
        <p:spPr>
          <a:xfrm>
            <a:off x="4599432" y="3845052"/>
            <a:ext cx="1088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5EC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 chaos</a:t>
            </a:r>
            <a:endParaRPr lang="en-US" sz="820" dirty="0"/>
          </a:p>
        </p:txBody>
      </p:sp>
      <p:sp>
        <p:nvSpPr>
          <p:cNvPr id="17" name="Shape 15"/>
          <p:cNvSpPr/>
          <p:nvPr/>
        </p:nvSpPr>
        <p:spPr>
          <a:xfrm>
            <a:off x="6217920" y="3794760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EAF8F4"/>
          </a:solidFill>
          <a:ln w="12700">
            <a:solidFill>
              <a:srgbClr val="5EC7A1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291072" y="3845052"/>
            <a:ext cx="1088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5EC7A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 data</a:t>
            </a:r>
            <a:endParaRPr lang="en-US" sz="820" dirty="0"/>
          </a:p>
        </p:txBody>
      </p:sp>
      <p:sp>
        <p:nvSpPr>
          <p:cNvPr id="19" name="Shape 17"/>
          <p:cNvSpPr/>
          <p:nvPr/>
        </p:nvSpPr>
        <p:spPr>
          <a:xfrm>
            <a:off x="1143000" y="4178808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EAF8F4"/>
          </a:solidFill>
          <a:ln w="12700">
            <a:solidFill>
              <a:srgbClr val="1F6F6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" name="Text 18"/>
          <p:cNvSpPr/>
          <p:nvPr/>
        </p:nvSpPr>
        <p:spPr>
          <a:xfrm>
            <a:off x="1216152" y="4229100"/>
            <a:ext cx="1088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 deploy</a:t>
            </a:r>
            <a:endParaRPr lang="en-US" sz="820" dirty="0"/>
          </a:p>
        </p:txBody>
      </p:sp>
      <p:sp>
        <p:nvSpPr>
          <p:cNvPr id="21" name="Shape 19"/>
          <p:cNvSpPr/>
          <p:nvPr/>
        </p:nvSpPr>
        <p:spPr>
          <a:xfrm>
            <a:off x="2834640" y="4178808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EAF8F4"/>
          </a:solidFill>
          <a:ln w="12700">
            <a:solidFill>
              <a:srgbClr val="1F6F6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2907792" y="4229100"/>
            <a:ext cx="1088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 docs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4526280" y="4178808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EAF8F4"/>
          </a:solidFill>
          <a:ln w="12700">
            <a:solidFill>
              <a:srgbClr val="1F6F6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4" name="Text 22"/>
          <p:cNvSpPr/>
          <p:nvPr/>
        </p:nvSpPr>
        <p:spPr>
          <a:xfrm>
            <a:off x="4599432" y="4229100"/>
            <a:ext cx="1088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 figures</a:t>
            </a:r>
            <a:endParaRPr lang="en-US" sz="820" dirty="0"/>
          </a:p>
        </p:txBody>
      </p:sp>
      <p:sp>
        <p:nvSpPr>
          <p:cNvPr id="25" name="Shape 23"/>
          <p:cNvSpPr/>
          <p:nvPr/>
        </p:nvSpPr>
        <p:spPr>
          <a:xfrm>
            <a:off x="6217920" y="4178808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EAF8F4"/>
          </a:solidFill>
          <a:ln w="12700">
            <a:solidFill>
              <a:srgbClr val="1F6F67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6" name="Text 24"/>
          <p:cNvSpPr/>
          <p:nvPr/>
        </p:nvSpPr>
        <p:spPr>
          <a:xfrm>
            <a:off x="6291072" y="4229100"/>
            <a:ext cx="1088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 monitoring</a:t>
            </a:r>
            <a:endParaRPr lang="en-US" sz="820" dirty="0"/>
          </a:p>
        </p:txBody>
      </p:sp>
      <p:sp>
        <p:nvSpPr>
          <p:cNvPr id="27" name="Shape 25"/>
          <p:cNvSpPr/>
          <p:nvPr/>
        </p:nvSpPr>
        <p:spPr>
          <a:xfrm>
            <a:off x="1143000" y="4562856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8" name="Text 26"/>
          <p:cNvSpPr/>
          <p:nvPr/>
        </p:nvSpPr>
        <p:spPr>
          <a:xfrm>
            <a:off x="1216152" y="4613148"/>
            <a:ext cx="1088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 results</a:t>
            </a:r>
            <a:endParaRPr lang="en-US" sz="820" dirty="0"/>
          </a:p>
        </p:txBody>
      </p:sp>
      <p:sp>
        <p:nvSpPr>
          <p:cNvPr id="29" name="Shape 27"/>
          <p:cNvSpPr/>
          <p:nvPr/>
        </p:nvSpPr>
        <p:spPr>
          <a:xfrm>
            <a:off x="2834640" y="4562856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0" name="Text 28"/>
          <p:cNvSpPr/>
          <p:nvPr/>
        </p:nvSpPr>
        <p:spPr>
          <a:xfrm>
            <a:off x="2907792" y="4613148"/>
            <a:ext cx="1088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 scripts</a:t>
            </a:r>
            <a:endParaRPr lang="en-US" sz="820" dirty="0"/>
          </a:p>
        </p:txBody>
      </p:sp>
      <p:sp>
        <p:nvSpPr>
          <p:cNvPr id="31" name="Shape 29"/>
          <p:cNvSpPr/>
          <p:nvPr/>
        </p:nvSpPr>
        <p:spPr>
          <a:xfrm>
            <a:off x="4526280" y="4562856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2" name="Text 30"/>
          <p:cNvSpPr/>
          <p:nvPr/>
        </p:nvSpPr>
        <p:spPr>
          <a:xfrm>
            <a:off x="4599432" y="4613148"/>
            <a:ext cx="1088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 services</a:t>
            </a:r>
            <a:endParaRPr lang="en-US" sz="820" dirty="0"/>
          </a:p>
        </p:txBody>
      </p:sp>
      <p:sp>
        <p:nvSpPr>
          <p:cNvPr id="33" name="Shape 31"/>
          <p:cNvSpPr/>
          <p:nvPr/>
        </p:nvSpPr>
        <p:spPr>
          <a:xfrm>
            <a:off x="6217920" y="4562856"/>
            <a:ext cx="1234440" cy="256032"/>
          </a:xfrm>
          <a:prstGeom prst="roundRect">
            <a:avLst>
              <a:gd name="adj" fmla="val 28571"/>
            </a:avLst>
          </a:prstGeom>
          <a:solidFill>
            <a:srgbClr val="FFF7ED"/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34" name="Text 32"/>
          <p:cNvSpPr/>
          <p:nvPr/>
        </p:nvSpPr>
        <p:spPr>
          <a:xfrm>
            <a:off x="6291072" y="4613148"/>
            <a:ext cx="1088136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820" b="1" dirty="0">
                <a:solidFill>
                  <a:srgbClr val="F59E0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📁 tests</a:t>
            </a:r>
            <a:endParaRPr lang="en-US" sz="820" dirty="0"/>
          </a:p>
        </p:txBody>
      </p:sp>
      <p:sp>
        <p:nvSpPr>
          <p:cNvPr id="35" name="Shape 33"/>
          <p:cNvSpPr/>
          <p:nvPr/>
        </p:nvSpPr>
        <p:spPr>
          <a:xfrm>
            <a:off x="8549640" y="1325880"/>
            <a:ext cx="2743200" cy="4434840"/>
          </a:xfrm>
          <a:prstGeom prst="roundRect">
            <a:avLst>
              <a:gd name="adj" fmla="val 4000"/>
            </a:avLst>
          </a:prstGeom>
          <a:solidFill>
            <a:srgbClr val="F8FBFA"/>
          </a:solidFill>
          <a:ln w="12700">
            <a:solidFill>
              <a:srgbClr val="D7E7E1"/>
            </a:solidFill>
            <a:prstDash val="solid"/>
          </a:ln>
          <a:effectLst>
            <a:outerShdw blurRad="12700" dist="50800" dir="2700000" algn="bl" rotWithShape="0">
              <a:srgbClr val="C7D6D1">
                <a:alpha val="13000"/>
              </a:srgbClr>
            </a:outerShdw>
          </a:effectLst>
        </p:spPr>
        <p:txBody>
          <a:bodyPr/>
          <a:lstStyle/>
          <a:p>
            <a:endParaRPr lang="zh-CN" altLang="en-US"/>
          </a:p>
        </p:txBody>
      </p:sp>
      <p:pic>
        <p:nvPicPr>
          <p:cNvPr id="36" name="Image 0" descr="/mnt/data/repo_q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70848" y="1810512"/>
            <a:ext cx="1691640" cy="1691640"/>
          </a:xfrm>
          <a:prstGeom prst="rect">
            <a:avLst/>
          </a:prstGeom>
        </p:spPr>
      </p:pic>
      <p:sp>
        <p:nvSpPr>
          <p:cNvPr id="37" name="Text 34"/>
          <p:cNvSpPr/>
          <p:nvPr/>
        </p:nvSpPr>
        <p:spPr>
          <a:xfrm>
            <a:off x="8796528" y="3703320"/>
            <a:ext cx="2240280" cy="228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 lnSpcReduction="10000"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GitHub 项目主页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8823960" y="4224528"/>
            <a:ext cx="224028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 algn="ctr">
              <a:buNone/>
            </a:pPr>
            <a:r>
              <a:rPr lang="en-US" sz="1050" dirty="0">
                <a:solidFill>
                  <a:srgbClr val="33415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扫描二维码可打开仓库；源码、脚本、数据、结果和报告材料均已整理。</a:t>
            </a:r>
            <a:endParaRPr lang="en-US" sz="1050" dirty="0"/>
          </a:p>
        </p:txBody>
      </p:sp>
      <p:sp>
        <p:nvSpPr>
          <p:cNvPr id="39" name="Text 36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40</a:t>
            </a:r>
            <a:endParaRPr lang="en-US" sz="75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FAFC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6601968"/>
            <a:ext cx="27432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72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End</a:t>
            </a:r>
            <a:endParaRPr lang="en-US" sz="720" dirty="0"/>
          </a:p>
        </p:txBody>
      </p:sp>
      <p:sp>
        <p:nvSpPr>
          <p:cNvPr id="3" name="Shape 1"/>
          <p:cNvSpPr/>
          <p:nvPr/>
        </p:nvSpPr>
        <p:spPr>
          <a:xfrm>
            <a:off x="3611880" y="1965960"/>
            <a:ext cx="4983480" cy="0"/>
          </a:xfrm>
          <a:prstGeom prst="line">
            <a:avLst/>
          </a:prstGeom>
          <a:noFill/>
          <a:ln w="38100">
            <a:solidFill>
              <a:srgbClr val="5EC7A1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" name="Text 2"/>
          <p:cNvSpPr/>
          <p:nvPr/>
        </p:nvSpPr>
        <p:spPr>
          <a:xfrm>
            <a:off x="2606040" y="2331720"/>
            <a:ext cx="69951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4200" b="1" dirty="0">
                <a:solidFill>
                  <a:srgbClr val="0F172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谢谢大家</a:t>
            </a:r>
            <a:endParaRPr lang="en-US" sz="4200" dirty="0"/>
          </a:p>
        </p:txBody>
      </p:sp>
      <p:sp>
        <p:nvSpPr>
          <p:cNvPr id="5" name="Text 3"/>
          <p:cNvSpPr/>
          <p:nvPr/>
        </p:nvSpPr>
        <p:spPr>
          <a:xfrm>
            <a:off x="3520440" y="3246120"/>
            <a:ext cx="516636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F6F67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答辩到此结束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2971800" y="4160520"/>
            <a:ext cx="6263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Online-Boutique 微服务测试与维护大作业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1201400" y="6583680"/>
            <a:ext cx="5029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750" dirty="0">
                <a:solidFill>
                  <a:srgbClr val="6474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41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2240</Words>
  <Application>Microsoft Office PowerPoint</Application>
  <PresentationFormat>宽屏</PresentationFormat>
  <Paragraphs>803</Paragraphs>
  <Slides>40</Slides>
  <Notes>40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45" baseType="lpstr">
      <vt:lpstr>Microsoft YaHei</vt:lpstr>
      <vt:lpstr>Arial</vt:lpstr>
      <vt:lpstr>Consolas</vt:lpstr>
      <vt:lpstr>Segoe UI Emoji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Nankai University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Online-Boutique 微服务测试与维护大作业展示</dc:title>
  <dc:subject>Online-Boutique 微服务测试与维护大作业</dc:subject>
  <dc:creator>OpenAI</dc:creator>
  <cp:lastModifiedBy>Affordan</cp:lastModifiedBy>
  <cp:revision>2</cp:revision>
  <dcterms:created xsi:type="dcterms:W3CDTF">2026-06-11T10:39:43Z</dcterms:created>
  <dcterms:modified xsi:type="dcterms:W3CDTF">2026-06-11T11:46:44Z</dcterms:modified>
</cp:coreProperties>
</file>