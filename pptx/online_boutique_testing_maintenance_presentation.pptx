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A977"/>
          </a:solidFill>
          <a:ln w="12700">
            <a:solidFill>
              <a:srgbClr val="11A9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1704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Online-Boutique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6400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微服务测试与维护大作业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58368" y="2331720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 · 新增微服务 · 监控采集 · 故障注入 · 自动化测试 · 异常分析 · 智能运维 Agent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2862072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DFF7EA"/>
          </a:solidFill>
          <a:ln w="10160">
            <a:solidFill>
              <a:srgbClr val="11A9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30652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软件测试与维护 2026 春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23160" y="2862072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CFFF5"/>
          </a:solidFill>
          <a:ln w="10160">
            <a:solidFill>
              <a:srgbClr val="0E66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6312" y="2930652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第三档 + 智能运维加分项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17720" y="2862072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DFF7EA"/>
          </a:solidFill>
          <a:ln w="10160">
            <a:solidFill>
              <a:srgbClr val="11A9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2930652"/>
            <a:ext cx="11795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Online-Boutique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406640" y="749808"/>
            <a:ext cx="4023360" cy="5074920"/>
          </a:xfrm>
          <a:prstGeom prst="roundRect">
            <a:avLst>
              <a:gd name="adj" fmla="val 2955"/>
            </a:avLst>
          </a:prstGeom>
          <a:solidFill>
            <a:srgbClr val="F9FFFC"/>
          </a:solidFill>
          <a:ln w="12700">
            <a:solidFill>
              <a:srgbClr val="BFEEDB"/>
            </a:solidFill>
            <a:prstDash val="solid"/>
          </a:ln>
          <a:effectLst>
            <a:outerShdw sx="100000" sy="100000" kx="0" ky="0" algn="bl" rotWithShape="0" blurRad="15240" dist="50800" dir="2700000">
              <a:srgbClr val="C6DDD4">
                <a:alpha val="23000"/>
              </a:srgbClr>
            </a:outerShdw>
          </a:effectLst>
        </p:spPr>
      </p:sp>
      <p:pic>
        <p:nvPicPr>
          <p:cNvPr id="13" name="Image 0" descr="/mnt/data/agent_closed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2" y="1036447"/>
            <a:ext cx="3611880" cy="2032763"/>
          </a:xfrm>
          <a:prstGeom prst="rect">
            <a:avLst/>
          </a:prstGeom>
        </p:spPr>
      </p:pic>
      <p:pic>
        <p:nvPicPr>
          <p:cNvPr id="14" name="Image 1" descr="/mnt/data/grafana_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517" y="3401568"/>
            <a:ext cx="2894142" cy="16459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58368" y="5257800"/>
            <a:ext cx="489204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D8EFE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68680" y="542239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小组成员：王秀强 / 邓锦尧 / 邱俊杰 / 段坤良 / 韦厚林 / 任泓旭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CEFE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github.com/Affordan/online-boutique-testing-maintenance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A977"/>
          </a:solidFill>
          <a:ln w="12700">
            <a:solidFill>
              <a:srgbClr val="11A9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项目展示总览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234440"/>
            <a:ext cx="2971800" cy="155448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193548000" dist="645160000" dir="162000000000">
              <a:srgbClr val="C6DDD4">
                <a:alpha val="23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435608"/>
            <a:ext cx="347472" cy="347472"/>
          </a:xfrm>
          <a:prstGeom prst="ellipse">
            <a:avLst/>
          </a:prstGeom>
          <a:solidFill>
            <a:srgbClr val="11A97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52704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280160" y="1435608"/>
            <a:ext cx="2057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系统基座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801368"/>
            <a:ext cx="21031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Online-Boutique 部署在本地 Kubernetes 集群，使用 Docker / Minikube / kubectl / Helm 管理。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160520" y="1234440"/>
            <a:ext cx="2971800" cy="155448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2458059600000" dist="8193532000000" dir="9720000000000000">
              <a:srgbClr val="C6DDD4">
                <a:alpha val="23000000000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5112" y="143560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52704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782312" y="1435608"/>
            <a:ext cx="2057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开发扩展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82312" y="1801368"/>
            <a:ext cx="21031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Coupon Service 与 Inventory Service，完成服务部署、地址暴露和环境变量接入。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662672" y="1234440"/>
            <a:ext cx="2971800" cy="155448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31217356920000000" dist="104057856400000000" dir="583200000000000000000">
              <a:srgbClr val="C6DDD4">
                <a:alpha val="230000000000000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827264" y="1435608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36992" y="152704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284464" y="1435608"/>
            <a:ext cx="2057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运维实验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84464" y="1801368"/>
            <a:ext cx="21031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 + Grafana 采集指标；ChaosMesh 进行 Pod Kill、CPU、内存、网络延迟实验。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58368" y="3337560"/>
            <a:ext cx="2971800" cy="155448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396460432884000000000" dist="1.32153477628e+21" dir="3.4992e+25">
              <a:srgbClr val="C6DDD4">
                <a:alpha val="2.3e+2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538728"/>
            <a:ext cx="347472" cy="347472"/>
          </a:xfrm>
          <a:prstGeom prst="ellipse">
            <a:avLst/>
          </a:prstGeom>
          <a:solidFill>
            <a:srgbClr val="11A97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363016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280160" y="3538728"/>
            <a:ext cx="2057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测试验证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3904488"/>
            <a:ext cx="21031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Selenium 覆盖前端交互；JMeter 设置并发压测并导出响应时间、吞吐量等指标。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4160520" y="3337560"/>
            <a:ext cx="2971800" cy="155448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5.0350474976268e+24" dist="1.6783491658756e+25" dir="2.09952e+30">
              <a:srgbClr val="C6DDD4">
                <a:alpha val="2.2999999999999998e+29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25112" y="353872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363016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782312" y="3538728"/>
            <a:ext cx="2057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82312" y="3904488"/>
            <a:ext cx="21031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导出正常与故障监控数据，形成异常检测与故障诊断算法输入。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7662672" y="3337560"/>
            <a:ext cx="2971800" cy="1554480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6.3945103219860365e+28" dist="2.1315034406620118e+29" dir="1.259712e+35">
              <a:srgbClr val="C6DDD4">
                <a:alpha val="2.3e+34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27264" y="3538728"/>
            <a:ext cx="347472" cy="34747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36992" y="3630168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284464" y="3538728"/>
            <a:ext cx="2057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智能体加分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84464" y="3904488"/>
            <a:ext cx="21031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 AIOps Agent，支持指标读取、异常窗口定位、根因分类和诊断报告生成。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58368" y="5532120"/>
            <a:ext cx="10881360" cy="530352"/>
          </a:xfrm>
          <a:prstGeom prst="roundRect">
            <a:avLst>
              <a:gd name="adj" fmla="val 22414"/>
            </a:avLst>
          </a:prstGeom>
          <a:solidFill>
            <a:srgbClr val="ECFFF5"/>
          </a:solidFill>
          <a:ln w="12700">
            <a:solidFill>
              <a:srgbClr val="BFEEDB"/>
            </a:solidFill>
            <a:prstDash val="solid"/>
          </a:ln>
          <a:effectLst>
            <a:outerShdw sx="100000" sy="100000" kx="0" ky="0" algn="bl" rotWithShape="0" blurRad="8.121028108922266e+32" dist="2.707009369640755e+33" dir="7.558272e+39">
              <a:srgbClr val="C6DDD4">
                <a:alpha val="2.2999999999999998e+39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96112" y="5715000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核心陈述：本项目完成 Online-Boutique 的部署、扩展、测试、监控、故障数据采集，并将异常分析封装为可演示的智能运维 Agent。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CEF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github.com/Affordan/online-boutique-testing-maintenance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A977"/>
          </a:solidFill>
          <a:ln w="12700">
            <a:solidFill>
              <a:srgbClr val="11A9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COURSE ALIGNMENT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课程要求与本项目对应关系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143000"/>
            <a:ext cx="10881360" cy="4892040"/>
          </a:xfrm>
          <a:prstGeom prst="roundRect">
            <a:avLst>
              <a:gd name="adj" fmla="val 2430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1.0313705698331278e+37" dist="3.437901899443759e+37" dir="4.5349632000000006e+44">
              <a:srgbClr val="C6DDD4">
                <a:alpha val="2.2999999999999996e+4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61872" y="13898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展示要求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3400" y="138988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项目材料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43800" y="138988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证明方式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1248" y="1737360"/>
            <a:ext cx="9966960" cy="0"/>
          </a:xfrm>
          <a:prstGeom prst="line">
            <a:avLst/>
          </a:prstGeom>
          <a:noFill/>
          <a:ln w="15240">
            <a:solidFill>
              <a:srgbClr val="BFEE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8653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CFFF5"/>
          </a:solidFill>
          <a:ln w="12700">
            <a:solidFill>
              <a:srgbClr val="BFEE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6404" y="1970532"/>
            <a:ext cx="914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261872" y="1965960"/>
            <a:ext cx="2468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微服务系统介绍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43400" y="1965960"/>
            <a:ext cx="2880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Online-Boutique + Coupon / Inventory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43800" y="1965960"/>
            <a:ext cx="3246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架构图、部署截图、服务 API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41248" y="2350008"/>
            <a:ext cx="9966960" cy="0"/>
          </a:xfrm>
          <a:prstGeom prst="line">
            <a:avLst/>
          </a:prstGeom>
          <a:noFill/>
          <a:ln w="10160">
            <a:solidFill>
              <a:srgbClr val="EDF7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24688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DFF7EA"/>
          </a:solidFill>
          <a:ln w="12700">
            <a:solidFill>
              <a:srgbClr val="BFEE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6404" y="2574036"/>
            <a:ext cx="914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261872" y="2569464"/>
            <a:ext cx="2468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项目测试展示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43400" y="2569464"/>
            <a:ext cx="2880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Selenium 功能测试 + JMeter 压测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543800" y="2569464"/>
            <a:ext cx="3246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测试截图、响应时间、吞吐量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1248" y="2953512"/>
            <a:ext cx="9966960" cy="0"/>
          </a:xfrm>
          <a:prstGeom prst="line">
            <a:avLst/>
          </a:prstGeom>
          <a:noFill/>
          <a:ln w="10160">
            <a:solidFill>
              <a:srgbClr val="EDF7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" y="30723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CFFF5"/>
          </a:solidFill>
          <a:ln w="12700">
            <a:solidFill>
              <a:srgbClr val="BFEE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6404" y="3177540"/>
            <a:ext cx="914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261872" y="3172968"/>
            <a:ext cx="2468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故障注入与监控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43400" y="3172968"/>
            <a:ext cx="2880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ChaosMesh + Prometheus + Grafana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543800" y="3172968"/>
            <a:ext cx="3246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故障配置、监控仪表盘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41248" y="3557016"/>
            <a:ext cx="9966960" cy="0"/>
          </a:xfrm>
          <a:prstGeom prst="line">
            <a:avLst/>
          </a:prstGeom>
          <a:noFill/>
          <a:ln w="10160">
            <a:solidFill>
              <a:srgbClr val="EDF7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36758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DFF7EA"/>
          </a:solidFill>
          <a:ln w="12700">
            <a:solidFill>
              <a:srgbClr val="BFEE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6404" y="3781044"/>
            <a:ext cx="914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261872" y="3776472"/>
            <a:ext cx="2468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异常数据采集与分析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343400" y="3776472"/>
            <a:ext cx="2880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normal / fault 指标数据集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543800" y="3776472"/>
            <a:ext cx="3246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 数据、算法输入特征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41248" y="4160520"/>
            <a:ext cx="9966960" cy="0"/>
          </a:xfrm>
          <a:prstGeom prst="line">
            <a:avLst/>
          </a:prstGeom>
          <a:noFill/>
          <a:ln w="10160">
            <a:solidFill>
              <a:srgbClr val="EDF7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1248" y="42793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CFFF5"/>
          </a:solidFill>
          <a:ln w="12700">
            <a:solidFill>
              <a:srgbClr val="BFEE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6404" y="4384548"/>
            <a:ext cx="914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261872" y="4379976"/>
            <a:ext cx="2468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加分项展示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343400" y="4379976"/>
            <a:ext cx="2880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AIOps Agent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543800" y="4379976"/>
            <a:ext cx="3246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异常定位、根因分类、诊断报告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41248" y="4764024"/>
            <a:ext cx="9966960" cy="0"/>
          </a:xfrm>
          <a:prstGeom prst="line">
            <a:avLst/>
          </a:prstGeom>
          <a:noFill/>
          <a:ln w="10160">
            <a:solidFill>
              <a:srgbClr val="EDF7F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1248" y="48828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DFF7EA"/>
          </a:solidFill>
          <a:ln w="12700">
            <a:solidFill>
              <a:srgbClr val="BFEE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6404" y="4988052"/>
            <a:ext cx="914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1261872" y="4983480"/>
            <a:ext cx="2468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成员贡献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343400" y="4983480"/>
            <a:ext cx="2880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A-F 分工表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543800" y="4983480"/>
            <a:ext cx="3246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模块负责人和交付物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979408" y="5468112"/>
            <a:ext cx="2057400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45000"/>
            </a:srgbClr>
          </a:solidFill>
          <a:ln w="15240">
            <a:solidFill>
              <a:srgbClr val="B7DCC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16568" y="547725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8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待补充：最终答辩时间 / 成员互评分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CEF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github.com/Affordan/online-boutique-testing-maintenance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A977"/>
          </a:solidFill>
          <a:ln w="12700">
            <a:solidFill>
              <a:srgbClr val="11A9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 STACK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技术组成与运行环境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" y="1207008"/>
            <a:ext cx="3154680" cy="1600200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1.3098406236880722e+41" dist="4.366135412293574e+41" dir="2.72097792e+49">
              <a:srgbClr val="C6DDD4">
                <a:alpha val="2.2999999999999998e+4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1389888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基础运行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86968" y="1828800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ECFFF5"/>
          </a:solidFill>
          <a:ln w="10160">
            <a:solidFill>
              <a:srgbClr val="11A9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97380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76856" y="1828800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F6FBF8"/>
          </a:solidFill>
          <a:ln w="10160">
            <a:solidFill>
              <a:srgbClr val="0E66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50008" y="1897380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Minikube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86968" y="2267712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ECFFF5"/>
          </a:solidFill>
          <a:ln w="10160">
            <a:solidFill>
              <a:srgbClr val="11A9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33629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76856" y="2267712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F6FBF8"/>
          </a:solidFill>
          <a:ln w="10160">
            <a:solidFill>
              <a:srgbClr val="0E66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0008" y="233629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/ Helm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97680" y="1207008"/>
            <a:ext cx="3154680" cy="1600200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1.6634975920838518e+45" dist="5.544991973612839e+45" dir="1.6325867520000003e+54">
              <a:srgbClr val="C6DDD4">
                <a:alpha val="2.2999999999999996e+54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98848" y="1389888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98848" y="1828800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ECFFF5"/>
          </a:solidFill>
          <a:ln w="10160">
            <a:solidFill>
              <a:srgbClr val="11A9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897380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888736" y="1828800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F6FBF8"/>
          </a:solidFill>
          <a:ln w="10160">
            <a:solidFill>
              <a:srgbClr val="0E66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61888" y="1897380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Grafana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498848" y="2267712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ECFFF5"/>
          </a:solidFill>
          <a:ln w="10160">
            <a:solidFill>
              <a:srgbClr val="11A9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33629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metrics CSV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888736" y="2267712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F6FBF8"/>
          </a:solidFill>
          <a:ln w="10160">
            <a:solidFill>
              <a:srgbClr val="0E66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61888" y="233629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909560" y="1207008"/>
            <a:ext cx="3154680" cy="1600200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2.1126419419464918e+49" dist="7.042139806488305e+49" dir="9.795520512000002e+58">
              <a:srgbClr val="C6DDD4">
                <a:alpha val="2.2999999999999996e+59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110728" y="1389888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故障实验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10728" y="1828800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ECFFF5"/>
          </a:solidFill>
          <a:ln w="10160">
            <a:solidFill>
              <a:srgbClr val="11A9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83880" y="1897380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ChaosMesh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500616" y="1828800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F6FBF8"/>
          </a:solidFill>
          <a:ln w="10160">
            <a:solidFill>
              <a:srgbClr val="0E66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73768" y="1897380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Kill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110728" y="2267712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ECFFF5"/>
          </a:solidFill>
          <a:ln w="10160">
            <a:solidFill>
              <a:srgbClr val="11A9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233629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Stress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500616" y="2267712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F6FBF8"/>
          </a:solidFill>
          <a:ln w="10160">
            <a:solidFill>
              <a:srgbClr val="0E66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73768" y="233629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 Delay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5800" y="3355848"/>
            <a:ext cx="3154680" cy="1600200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2.6830552662720448e+53" dist="8.943517554240149e+53" dir="5.877312307200001e+63">
              <a:srgbClr val="C6DDD4">
                <a:alpha val="2.2999999999999997e+64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86968" y="3538728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测试工具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86968" y="3977640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ECFFF5"/>
          </a:solidFill>
          <a:ln w="10160">
            <a:solidFill>
              <a:srgbClr val="11A9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4046220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Selenium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276856" y="3977640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F6FBF8"/>
          </a:solidFill>
          <a:ln w="10160">
            <a:solidFill>
              <a:srgbClr val="0E66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50008" y="4046220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JMeter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86968" y="4416552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ECFFF5"/>
          </a:solidFill>
          <a:ln w="10160">
            <a:solidFill>
              <a:srgbClr val="11A9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0120" y="448513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Edge / Browser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276856" y="4416552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F6FBF8"/>
          </a:solidFill>
          <a:ln w="10160">
            <a:solidFill>
              <a:srgbClr val="0E66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50008" y="448513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Report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297680" y="3355848"/>
            <a:ext cx="3154680" cy="1600200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3.407480188165497e+57" dist="1.1358267293884988e+58" dir="3.526387384320001e+68">
              <a:srgbClr val="C6DDD4">
                <a:alpha val="2.2999999999999998e+69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498848" y="3538728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数据与算法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498848" y="3977640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ECFFF5"/>
          </a:solidFill>
          <a:ln w="10160">
            <a:solidFill>
              <a:srgbClr val="11A9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0" y="4046220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888736" y="3977640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F6FBF8"/>
          </a:solidFill>
          <a:ln w="10160">
            <a:solidFill>
              <a:srgbClr val="0E66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61888" y="4046220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Pandas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498848" y="4416552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ECFFF5"/>
          </a:solidFill>
          <a:ln w="10160">
            <a:solidFill>
              <a:srgbClr val="11A9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0" y="448513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Isolation Forest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888736" y="4416552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F6FBF8"/>
          </a:solidFill>
          <a:ln w="10160">
            <a:solidFill>
              <a:srgbClr val="0E66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61888" y="448513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 / SVM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909560" y="3355848"/>
            <a:ext cx="3154680" cy="1600200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4.327499838970181e+61" dist="1.4424999463233936e+62" dir="2.1158324305920003e+73">
              <a:srgbClr val="C6DDD4">
                <a:alpha val="2.3e+74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110728" y="3538728"/>
            <a:ext cx="2377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智能运维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110728" y="3977640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ECFFF5"/>
          </a:solidFill>
          <a:ln w="10160">
            <a:solidFill>
              <a:srgbClr val="11A9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83880" y="4046220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AIOps Agent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9500616" y="3977640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F6FBF8"/>
          </a:solidFill>
          <a:ln w="10160">
            <a:solidFill>
              <a:srgbClr val="0E66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573768" y="4046220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Loader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110728" y="4416552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ECFFF5"/>
          </a:solidFill>
          <a:ln w="10160">
            <a:solidFill>
              <a:srgbClr val="11A9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183880" y="448513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Root Cause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9500616" y="4416552"/>
            <a:ext cx="1170432" cy="292608"/>
          </a:xfrm>
          <a:prstGeom prst="roundRect">
            <a:avLst>
              <a:gd name="adj" fmla="val 25000"/>
            </a:avLst>
          </a:prstGeom>
          <a:solidFill>
            <a:srgbClr val="F6FBF8"/>
          </a:solidFill>
          <a:ln w="10160">
            <a:solidFill>
              <a:srgbClr val="0E66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573768" y="4485132"/>
            <a:ext cx="1024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85800" y="5532120"/>
            <a:ext cx="10881360" cy="502920"/>
          </a:xfrm>
          <a:prstGeom prst="roundRect">
            <a:avLst>
              <a:gd name="adj" fmla="val 23636"/>
            </a:avLst>
          </a:prstGeom>
          <a:solidFill>
            <a:srgbClr val="ECFFF5"/>
          </a:solidFill>
          <a:ln w="12700">
            <a:solidFill>
              <a:srgbClr val="BFEEDB"/>
            </a:solidFill>
            <a:prstDash val="solid"/>
          </a:ln>
          <a:effectLst>
            <a:outerShdw sx="100000" sy="100000" kx="0" ky="0" algn="bl" rotWithShape="0" blurRad="5.49592479549213e+65" dist="1.83197493183071e+66" dir="1.2694994583552002e+78">
              <a:srgbClr val="C6DDD4">
                <a:alpha val="2.2999999999999997e+79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914400" y="5705856"/>
            <a:ext cx="10287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环境定位：本地可复现实验环境，支持部署、监控、故障注入、数据导出、算法分析与 Agent 演示闭合。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CEFE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github.com/Affordan/online-boutique-testing-maintenance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A977"/>
          </a:solidFill>
          <a:ln w="12700">
            <a:solidFill>
              <a:srgbClr val="11A9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TOPOLOGY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业务链路与服务拓扑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40280" y="2743200"/>
            <a:ext cx="685800" cy="0"/>
          </a:xfrm>
          <a:prstGeom prst="line">
            <a:avLst/>
          </a:prstGeom>
          <a:noFill/>
          <a:ln w="17780">
            <a:solidFill>
              <a:srgbClr val="9BDEC6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977640" y="2148840"/>
            <a:ext cx="822960" cy="-731520"/>
          </a:xfrm>
          <a:prstGeom prst="line">
            <a:avLst/>
          </a:prstGeom>
          <a:noFill/>
          <a:ln w="17780">
            <a:solidFill>
              <a:srgbClr val="9BDEC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977640" y="2743200"/>
            <a:ext cx="822960" cy="0"/>
          </a:xfrm>
          <a:prstGeom prst="line">
            <a:avLst/>
          </a:prstGeom>
          <a:noFill/>
          <a:ln w="17780">
            <a:solidFill>
              <a:srgbClr val="9BDEC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977640" y="3337560"/>
            <a:ext cx="822960" cy="914400"/>
          </a:xfrm>
          <a:prstGeom prst="line">
            <a:avLst/>
          </a:prstGeom>
          <a:noFill/>
          <a:ln w="17780">
            <a:solidFill>
              <a:srgbClr val="9BDEC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89320" y="2743200"/>
            <a:ext cx="822960" cy="0"/>
          </a:xfrm>
          <a:prstGeom prst="line">
            <a:avLst/>
          </a:prstGeom>
          <a:noFill/>
          <a:ln w="17780">
            <a:solidFill>
              <a:srgbClr val="9BDEC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001000" y="2148840"/>
            <a:ext cx="731520" cy="-731520"/>
          </a:xfrm>
          <a:prstGeom prst="line">
            <a:avLst/>
          </a:prstGeom>
          <a:noFill/>
          <a:ln w="17780">
            <a:solidFill>
              <a:srgbClr val="9BDEC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001000" y="2743200"/>
            <a:ext cx="731520" cy="0"/>
          </a:xfrm>
          <a:prstGeom prst="line">
            <a:avLst/>
          </a:prstGeom>
          <a:noFill/>
          <a:ln w="17780">
            <a:solidFill>
              <a:srgbClr val="9BDEC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01000" y="3337560"/>
            <a:ext cx="731520" cy="914400"/>
          </a:xfrm>
          <a:prstGeom prst="line">
            <a:avLst/>
          </a:prstGeom>
          <a:noFill/>
          <a:ln w="17780">
            <a:solidFill>
              <a:srgbClr val="9BDEC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77640" y="4526280"/>
            <a:ext cx="822960" cy="548640"/>
          </a:xfrm>
          <a:prstGeom prst="line">
            <a:avLst/>
          </a:prstGeom>
          <a:noFill/>
          <a:ln w="2032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9320" y="1417320"/>
            <a:ext cx="822960" cy="0"/>
          </a:xfrm>
          <a:prstGeom prst="line">
            <a:avLst/>
          </a:prstGeom>
          <a:noFill/>
          <a:ln w="20320">
            <a:solidFill>
              <a:srgbClr val="EF4444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680" y="2404872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F3FFF8"/>
          </a:solidFill>
          <a:ln w="14605">
            <a:solidFill>
              <a:srgbClr val="11A977"/>
            </a:solidFill>
            <a:prstDash val="solid"/>
          </a:ln>
          <a:effectLst>
            <a:outerShdw sx="100000" sy="100000" kx="0" ky="0" algn="bl" rotWithShape="0" blurRad="8890" dist="50800" dir="2700000">
              <a:srgbClr val="C6DDD4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23544" y="2619756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2331720"/>
            <a:ext cx="14173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4605">
            <a:solidFill>
              <a:srgbClr val="11A977"/>
            </a:solidFill>
            <a:prstDash val="solid"/>
          </a:ln>
          <a:effectLst>
            <a:outerShdw sx="100000" sy="100000" kx="0" ky="0" algn="bl" rotWithShape="0" blurRad="8890" dist="50800" dir="2700000">
              <a:srgbClr val="C6DDD4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98064" y="2615184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1078992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605">
            <a:solidFill>
              <a:srgbClr val="9BDEC6"/>
            </a:solidFill>
            <a:prstDash val="solid"/>
          </a:ln>
          <a:effectLst>
            <a:outerShdw sx="100000" sy="100000" kx="0" ky="0" algn="bl" rotWithShape="0" blurRad="8890" dist="50800" dir="2700000">
              <a:srgbClr val="C6DDD4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55464" y="1325880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ProductCatalog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242316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605">
            <a:solidFill>
              <a:srgbClr val="9BDEC6"/>
            </a:solidFill>
            <a:prstDash val="solid"/>
          </a:ln>
          <a:effectLst>
            <a:outerShdw sx="100000" sy="100000" kx="0" ky="0" algn="bl" rotWithShape="0" blurRad="8890" dist="50800" dir="2700000">
              <a:srgbClr val="C6DDD4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55464" y="267004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3767328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605">
            <a:solidFill>
              <a:srgbClr val="9BDEC6"/>
            </a:solidFill>
            <a:prstDash val="solid"/>
          </a:ln>
          <a:effectLst>
            <a:outerShdw sx="100000" sy="100000" kx="0" ky="0" algn="bl" rotWithShape="0" blurRad="8890" dist="50800" dir="2700000">
              <a:srgbClr val="C6DDD4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55464" y="4014216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Checkout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12280" y="242316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605">
            <a:solidFill>
              <a:srgbClr val="9BDEC6"/>
            </a:solidFill>
            <a:prstDash val="solid"/>
          </a:ln>
          <a:effectLst>
            <a:outerShdw sx="100000" sy="100000" kx="0" ky="0" algn="bl" rotWithShape="0" blurRad="8890" dist="50800" dir="2700000">
              <a:srgbClr val="C6DDD4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67144" y="267004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Payment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732520" y="1078992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605">
            <a:solidFill>
              <a:srgbClr val="9BDEC6"/>
            </a:solidFill>
            <a:prstDash val="solid"/>
          </a:ln>
          <a:effectLst>
            <a:outerShdw sx="100000" sy="100000" kx="0" ky="0" algn="bl" rotWithShape="0" blurRad="8890" dist="50800" dir="2700000">
              <a:srgbClr val="C6DDD4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787384" y="1325880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Email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732520" y="242316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605">
            <a:solidFill>
              <a:srgbClr val="9BDEC6"/>
            </a:solidFill>
            <a:prstDash val="solid"/>
          </a:ln>
          <a:effectLst>
            <a:outerShdw sx="100000" sy="100000" kx="0" ky="0" algn="bl" rotWithShape="0" blurRad="8890" dist="50800" dir="2700000">
              <a:srgbClr val="C6DDD4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787384" y="2670048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Shipping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732520" y="3767328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4605">
            <a:solidFill>
              <a:srgbClr val="9BDEC6"/>
            </a:solidFill>
            <a:prstDash val="solid"/>
          </a:ln>
          <a:effectLst>
            <a:outerShdw sx="100000" sy="100000" kx="0" ky="0" algn="bl" rotWithShape="0" blurRad="8890" dist="50800" dir="2700000">
              <a:srgbClr val="C6DDD4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787384" y="4014216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Currency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475488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7ED"/>
          </a:solidFill>
          <a:ln w="14605">
            <a:solidFill>
              <a:srgbClr val="EF4444"/>
            </a:solidFill>
            <a:prstDash val="solid"/>
          </a:ln>
          <a:effectLst>
            <a:outerShdw sx="100000" sy="100000" kx="0" ky="0" algn="bl" rotWithShape="0" blurRad="8890" dist="50800" dir="2700000">
              <a:srgbClr val="C6DDD4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55464" y="5029200"/>
            <a:ext cx="1399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Coupon Service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12280" y="1078992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FFF7ED"/>
          </a:solidFill>
          <a:ln w="14605">
            <a:solidFill>
              <a:srgbClr val="EF4444"/>
            </a:solidFill>
            <a:prstDash val="solid"/>
          </a:ln>
          <a:effectLst>
            <a:outerShdw sx="100000" sy="100000" kx="0" ky="0" algn="bl" rotWithShape="0" blurRad="8890" dist="50800" dir="2700000">
              <a:srgbClr val="C6DDD4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67144" y="1353312"/>
            <a:ext cx="1490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Inventory Service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" y="5532120"/>
            <a:ext cx="8503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红色节点表示本项目新增或重点接入的服务。Coupon 参与结算优惠，Inventory 对商品库存进行查询与扣减。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829800" y="5596128"/>
            <a:ext cx="1325880" cy="411480"/>
          </a:xfrm>
          <a:prstGeom prst="roundRect">
            <a:avLst>
              <a:gd name="adj" fmla="val 26667"/>
            </a:avLst>
          </a:prstGeom>
          <a:solidFill>
            <a:srgbClr val="FFFFFF">
              <a:alpha val="45000"/>
            </a:srgbClr>
          </a:solidFill>
          <a:ln w="15240">
            <a:solidFill>
              <a:srgbClr val="B7DCC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66960" y="56189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8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可替换为最终架构截图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CEF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github.com/Affordan/online-boutique-testing-maintenance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A977"/>
          </a:solidFill>
          <a:ln w="12700">
            <a:solidFill>
              <a:srgbClr val="11A9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本地部署与运行验证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143000"/>
            <a:ext cx="3337560" cy="448056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6.979824490275004e+69" dist="2.3266081634250016e+70" dir="7.616996750131201e+82">
              <a:srgbClr val="C6DDD4">
                <a:alpha val="2.3e+8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部署要点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Minikube 本地 Kubernetes 集群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267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online-boutique 命名空间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7066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kubectl 查看 Pod / Service 状态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1455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前端通过本地端口转发访问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35844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脚本化启动与部署记录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4526280"/>
            <a:ext cx="1261872" cy="731520"/>
          </a:xfrm>
          <a:prstGeom prst="roundRect">
            <a:avLst>
              <a:gd name="adj" fmla="val 16250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8.864377102649255e+73" dist="2.954792367549752e+74" dir="4.57019805007872e+87">
              <a:srgbClr val="C6DDD4">
                <a:alpha val="2.3e+89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78992" y="469087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78992" y="5074920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编排环境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2331720" y="4526280"/>
            <a:ext cx="1261872" cy="731520"/>
          </a:xfrm>
          <a:prstGeom prst="roundRect">
            <a:avLst>
              <a:gd name="adj" fmla="val 16250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1.1257758920364555e+78" dist="3.752586306788185e+78" dir="2.742118830047232e+92">
              <a:srgbClr val="C6DDD4">
                <a:alpha val="2.3e+94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96312" y="4690872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8080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496312" y="5074920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本地访问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4343400" y="1143000"/>
            <a:ext cx="6903720" cy="4480560"/>
          </a:xfrm>
          <a:prstGeom prst="roundRect">
            <a:avLst>
              <a:gd name="adj" fmla="val 2653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1.4297353828862985e+82" dist="4.765784609620995e+82" dir="1.6452712980283393e+97">
              <a:srgbClr val="C6DDD4">
                <a:alpha val="2.3e+99"/>
              </a:srgbClr>
            </a:outerShdw>
          </a:effectLst>
        </p:spPr>
      </p:sp>
      <p:pic>
        <p:nvPicPr>
          <p:cNvPr id="19" name="Image 0" descr="/mnt/data/04_pods_run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905821"/>
            <a:ext cx="6446520" cy="290919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0" y="5376672"/>
            <a:ext cx="6309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图示：Pod 运行状态留证，便于答辩时说明系统部署成功。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CEF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github.com/Affordan/online-boutique-testing-maintenance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A977"/>
          </a:solidFill>
          <a:ln w="12700">
            <a:solidFill>
              <a:srgbClr val="11A9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ONLINE-BOUTIQUE UI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页面访问与业务功能验证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115568"/>
            <a:ext cx="5257800" cy="4663440"/>
          </a:xfrm>
          <a:prstGeom prst="roundRect">
            <a:avLst>
              <a:gd name="adj" fmla="val 2549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1.815763936265599e+86" dist="6.052546454218663e+86" dir="9.871627788170037e+101">
              <a:srgbClr val="C6DDD4">
                <a:alpha val="2.3000000000000002e+104"/>
              </a:srgbClr>
            </a:outerShdw>
          </a:effectLst>
        </p:spPr>
      </p:sp>
      <p:pic>
        <p:nvPicPr>
          <p:cNvPr id="6" name="Image 0" descr="/mnt/data/06_home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74532"/>
            <a:ext cx="4846320" cy="27260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5440680"/>
            <a:ext cx="4389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首页商品列表访问正常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63640" y="1115568"/>
            <a:ext cx="5257800" cy="4663440"/>
          </a:xfrm>
          <a:prstGeom prst="roundRect">
            <a:avLst>
              <a:gd name="adj" fmla="val 2549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2.3060201990573107e+90" dist="7.6867339968577025e+90" dir="5.9229766729020215e+106">
              <a:srgbClr val="C6DDD4">
                <a:alpha val="2.3e+109"/>
              </a:srgbClr>
            </a:outerShdw>
          </a:effectLst>
        </p:spPr>
      </p:sp>
      <p:pic>
        <p:nvPicPr>
          <p:cNvPr id="9" name="Image 1" descr="/mnt/data/07_cart_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974532"/>
            <a:ext cx="4846320" cy="272605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0" y="5440680"/>
            <a:ext cx="4389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购物车页面与结算入口正常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CEFE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github.com/Affordan/online-boutique-testing-maintenance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A977"/>
          </a:solidFill>
          <a:ln w="12700">
            <a:solidFill>
              <a:srgbClr val="11A9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 SERVICES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新增微服务开发展示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143000"/>
            <a:ext cx="3429000" cy="4526280"/>
          </a:xfrm>
          <a:prstGeom prst="roundRect">
            <a:avLst>
              <a:gd name="adj" fmla="val 3467"/>
            </a:avLst>
          </a:prstGeom>
          <a:solidFill>
            <a:srgbClr val="FFFDF8"/>
          </a:solidFill>
          <a:ln w="12700">
            <a:solidFill>
              <a:srgbClr val="FAD7A0"/>
            </a:solidFill>
            <a:prstDash val="solid"/>
          </a:ln>
          <a:effectLst>
            <a:outerShdw sx="100000" sy="100000" kx="0" ky="0" algn="bl" rotWithShape="0" blurRad="2.928645652802785e+94" dist="9.762152176009283e+94" dir="3.553786003741213e+111">
              <a:srgbClr val="C6DDD4">
                <a:alpha val="2.3e+11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Coupon Service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优惠券校验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3134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折扣规则返回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7523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结算链路接入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1912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HTTP API 暴露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4069080"/>
            <a:ext cx="96012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4137660"/>
            <a:ext cx="813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/validate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011680" y="406908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84832" y="4137660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/health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80560" y="1143000"/>
            <a:ext cx="3429000" cy="4526280"/>
          </a:xfrm>
          <a:prstGeom prst="roundRect">
            <a:avLst>
              <a:gd name="adj" fmla="val 3467"/>
            </a:avLst>
          </a:prstGeom>
          <a:solidFill>
            <a:srgbClr val="F8FFFC"/>
          </a:solidFill>
          <a:ln w="12700">
            <a:solidFill>
              <a:srgbClr val="BFEEDB"/>
            </a:solidFill>
            <a:prstDash val="solid"/>
          </a:ln>
          <a:effectLst>
            <a:outerShdw sx="100000" sy="100000" kx="0" ky="0" algn="bl" rotWithShape="0" blurRad="3.7193799790595366e+98" dist="1.2397933263531789e+99" dir="2.1322716022447277e+116">
              <a:srgbClr val="C6DDD4">
                <a:alpha val="2.3e+119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36592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Inventory Service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36592" y="18745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库存查询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36592" y="23134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库存扣减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36592" y="27523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商品服务联动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36592" y="31912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Service 暴露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36592" y="406908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ECFFF5"/>
          </a:solidFill>
          <a:ln w="10160">
            <a:solidFill>
              <a:srgbClr val="11A9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4137660"/>
            <a:ext cx="9966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/inventory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16752" y="406908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ECFFF5"/>
          </a:solidFill>
          <a:ln w="10160">
            <a:solidFill>
              <a:srgbClr val="11A9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9904" y="4137660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/health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302752" y="1143000"/>
            <a:ext cx="2834640" cy="4526280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4.723612573405612e+102" dist="1.574537524468537e+103" dir="1.2793629613468366e+121">
              <a:srgbClr val="C6DDD4">
                <a:alpha val="2.3e+124"/>
              </a:srgbClr>
            </a:outerShdw>
          </a:effectLst>
        </p:spPr>
      </p:sp>
      <p:pic>
        <p:nvPicPr>
          <p:cNvPr id="26" name="Image 0" descr="/mnt/data/10_coupon_serv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2" y="2664693"/>
            <a:ext cx="2468880" cy="1025693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558784" y="5102352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运行验证截图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CEFE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github.com/Affordan/online-boutique-testing-maintenance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A977"/>
          </a:solidFill>
          <a:ln w="12700">
            <a:solidFill>
              <a:srgbClr val="11A9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INTEGRATION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新增服务部署与接入留证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078992"/>
            <a:ext cx="5303520" cy="21031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5.998987968225127e+106" dist="1.9996626560750422e+107" dir="7.67617776808102e+125">
              <a:srgbClr val="C6DDD4">
                <a:alpha val="2.3e+129"/>
              </a:srgbClr>
            </a:outerShdw>
          </a:effectLst>
        </p:spPr>
      </p:sp>
      <p:pic>
        <p:nvPicPr>
          <p:cNvPr id="6" name="Image 0" descr="/mnt/data/08_custom_services_po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916312"/>
            <a:ext cx="4828032" cy="318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44368"/>
            <a:ext cx="4389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新增服务 Pod 运行状态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36208" y="1078992"/>
            <a:ext cx="5303520" cy="2103120"/>
          </a:xfrm>
          <a:prstGeom prst="roundRect">
            <a:avLst>
              <a:gd name="adj" fmla="val 5652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7.618714719645911e+110" dist="2.5395715732153033e+111" dir="4.605706660848612e+130">
              <a:srgbClr val="C6DDD4">
                <a:alpha val="2.3e+134"/>
              </a:srgbClr>
            </a:outerShdw>
          </a:effectLst>
        </p:spPr>
      </p:sp>
      <p:pic>
        <p:nvPicPr>
          <p:cNvPr id="9" name="Image 1" descr="/mnt/data/09_custom_services_sv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924812"/>
            <a:ext cx="482803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37960" y="2944368"/>
            <a:ext cx="4389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地址与端口暴露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1828800" y="3749040"/>
            <a:ext cx="8503920" cy="1600200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9.675767693950307e+114" dist="3.2252558979834354e+115" dir="2.763423996509167e+135">
              <a:srgbClr val="C6DDD4">
                <a:alpha val="2.2999999999999997e+139"/>
              </a:srgbClr>
            </a:outerShdw>
          </a:effectLst>
        </p:spPr>
      </p:sp>
      <p:pic>
        <p:nvPicPr>
          <p:cNvPr id="12" name="Image 2" descr="/mnt/data/12_env_integr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360" y="3931920"/>
            <a:ext cx="3078800" cy="11155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148840" y="5120640"/>
            <a:ext cx="74066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环境变量注入：frontend / checkout / productcatalog 与新增服务完成连接配置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CEF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github.com/Affordan/online-boutique-testing-maintenance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A977"/>
          </a:solidFill>
          <a:ln w="12700">
            <a:solidFill>
              <a:srgbClr val="11A9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OBSERVABILITY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 与 Grafana 监控采集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078992"/>
            <a:ext cx="5303520" cy="4343400"/>
          </a:xfrm>
          <a:prstGeom prst="roundRect">
            <a:avLst>
              <a:gd name="adj" fmla="val 2737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1.2288224971316889e+119" dist="4.0960749904389626e+119" dir="1.6580543979055002e+140">
              <a:srgbClr val="C6DDD4">
                <a:alpha val="2.2999999999999998e+144"/>
              </a:srgbClr>
            </a:outerShdw>
          </a:effectLst>
        </p:spPr>
      </p:sp>
      <p:pic>
        <p:nvPicPr>
          <p:cNvPr id="6" name="Image 0" descr="/mnt/data/grafana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576071"/>
            <a:ext cx="4828032" cy="27457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4873752"/>
            <a:ext cx="4297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系统整体监控面板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36208" y="1078992"/>
            <a:ext cx="5303520" cy="4343400"/>
          </a:xfrm>
          <a:prstGeom prst="roundRect">
            <a:avLst>
              <a:gd name="adj" fmla="val 2737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1.5606045713572448e+123" dist="5.2020152378574823e+123" dir="9.948326387433002e+144">
              <a:srgbClr val="C6DDD4">
                <a:alpha val="2.3e+149"/>
              </a:srgbClr>
            </a:outerShdw>
          </a:effectLst>
        </p:spPr>
      </p:sp>
      <p:pic>
        <p:nvPicPr>
          <p:cNvPr id="9" name="Image 1" descr="/mnt/data/grafana_coupon_inven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576071"/>
            <a:ext cx="4828032" cy="27457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37960" y="4873752"/>
            <a:ext cx="4297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新增服务监控面板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58368" y="5577840"/>
            <a:ext cx="10881360" cy="411480"/>
          </a:xfrm>
          <a:prstGeom prst="roundRect">
            <a:avLst>
              <a:gd name="adj" fmla="val 28889"/>
            </a:avLst>
          </a:prstGeom>
          <a:solidFill>
            <a:srgbClr val="ECFFF5"/>
          </a:solidFill>
          <a:ln w="12700">
            <a:solidFill>
              <a:srgbClr val="BFEEDB"/>
            </a:solidFill>
            <a:prstDash val="solid"/>
          </a:ln>
          <a:effectLst>
            <a:outerShdw sx="100000" sy="100000" kx="0" ky="0" algn="bl" rotWithShape="0" blurRad="1.9819678056237007e+127" dist="6.606559352079002e+127" dir="5.968995832459801e+149">
              <a:srgbClr val="C6DDD4">
                <a:alpha val="2.2999999999999997e+154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868680" y="5715000"/>
            <a:ext cx="1028700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采集对象覆盖请求速率、延迟、错误率、CPU、内存等指标，为故障注入对比与算法分析提供输入。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CEFE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github.com/Affordan/online-boutique-testing-maintenance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A977"/>
          </a:solidFill>
          <a:ln w="12700">
            <a:solidFill>
              <a:srgbClr val="11A9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DELIVERY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监控数据交付与数据规模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9808" y="1143000"/>
            <a:ext cx="214884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2.5170991131421e+131" dist="8.390330377140333e+131" dir="3.581397499475881e+154">
              <a:srgbClr val="C6DDD4">
                <a:alpha val="2.2999999999999996e+15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07592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50,400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总数据条目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3154680" y="1143000"/>
            <a:ext cx="214884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3.1967158736904665e+135" dist="1.0655719578968222e+136" dir="2.1488384996855287e+159">
              <a:srgbClr val="C6DDD4">
                <a:alpha val="2.2999999999999994e+164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19272" y="1307592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25,200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19272" y="169164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正常状态数据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559552" y="1143000"/>
            <a:ext cx="214884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4.0598291595868927e+139" dist="1.3532763865289643e+140" dir="1.2893030998113172e+164">
              <a:srgbClr val="C6DDD4">
                <a:alpha val="2.2999999999999996e+169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24144" y="1307592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25,200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724144" y="169164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故障状态数据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7973568" y="1143000"/>
            <a:ext cx="214884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5.1559830326753536e+143" dist="1.7186610108917847e+144" dir="7.735818598867904e+168">
              <a:srgbClr val="C6DDD4">
                <a:alpha val="2.3e+174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38160" y="1307592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38160" y="1691640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服务维度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749808" y="2514600"/>
            <a:ext cx="5166360" cy="288036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6.548098451497699e+147" dist="2.1826994838325667e+148" dir="4.6414911593207425e+173">
              <a:srgbClr val="C6DDD4">
                <a:alpha val="2.2999999999999997e+179"/>
              </a:srgbClr>
            </a:outerShdw>
          </a:effectLst>
        </p:spPr>
      </p:sp>
      <p:pic>
        <p:nvPicPr>
          <p:cNvPr id="18" name="Image 0" descr="/mnt/data/latency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110" y="2743200"/>
            <a:ext cx="4107180" cy="22402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60120" y="5074920"/>
            <a:ext cx="42976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延迟分布画像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355080" y="2514600"/>
            <a:ext cx="5166360" cy="288036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8.316085033402077e+151" dist="2.77202834446736e+152" dir="2.7848946955924455e+178">
              <a:srgbClr val="C6DDD4">
                <a:alpha val="2.2999999999999996e+184"/>
              </a:srgbClr>
            </a:outerShdw>
          </a:effectLst>
        </p:spPr>
      </p:sp>
      <p:pic>
        <p:nvPicPr>
          <p:cNvPr id="21" name="Image 1" descr="/mnt/data/fault_type_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382" y="2743200"/>
            <a:ext cx="4107180" cy="22402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583680" y="5074920"/>
            <a:ext cx="42976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故障类型画像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CEFE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github.com/Affordan/online-boutique-testing-maintenance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A977"/>
          </a:solidFill>
          <a:ln w="12700">
            <a:solidFill>
              <a:srgbClr val="11A9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FAULT INJECTION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ChaosMesh 故障注入设计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124712"/>
            <a:ext cx="3749040" cy="4526280"/>
          </a:xfrm>
          <a:prstGeom prst="roundRect">
            <a:avLst>
              <a:gd name="adj" fmla="val 3171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1.0561427992420638e+156" dist="3.520475997473547e+156" dir="1.6709368173554673e+183">
              <a:srgbClr val="C6DDD4">
                <a:alpha val="2.2999999999999994e+18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故障类型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943100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Kill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491740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Stress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14400" y="297180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040380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Stress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14400" y="352044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589020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 Delay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14400" y="4370832"/>
            <a:ext cx="2286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实验目标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709160"/>
            <a:ext cx="2971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构造可观测、可对比、可导出的故障窗口，使算法分析能够区分正常和异常状态。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124712"/>
            <a:ext cx="6492240" cy="4526280"/>
          </a:xfrm>
          <a:prstGeom prst="roundRect">
            <a:avLst>
              <a:gd name="adj" fmla="val 2626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1.341301355037421e+160" dist="4.471004516791404e+160" dir="1.0025620904132804e+188">
              <a:srgbClr val="C6DDD4">
                <a:alpha val="2.2999999999999994e+194"/>
              </a:srgbClr>
            </a:outerShdw>
          </a:effectLst>
        </p:spPr>
      </p:sp>
      <p:pic>
        <p:nvPicPr>
          <p:cNvPr id="18" name="Image 0" descr="/mnt/data/chaosmesh_po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7488" y="2515579"/>
            <a:ext cx="5989320" cy="146108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166360" y="5074920"/>
            <a:ext cx="53949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ChaosMesh 组件运行留证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CEFE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github.com/Affordan/online-boutique-testing-maintenance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A977"/>
          </a:solidFill>
          <a:ln w="12700">
            <a:solidFill>
              <a:srgbClr val="11A9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 EVIDENCE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故障注入执行留证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115568"/>
            <a:ext cx="7498080" cy="4526280"/>
          </a:xfrm>
          <a:prstGeom prst="roundRect">
            <a:avLst>
              <a:gd name="adj" fmla="val 2626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1.7034527208975248e+164" dist="5.678175736325083e+164" dir="6.015372542479682e+192">
              <a:srgbClr val="C6DDD4">
                <a:alpha val="2.2999999999999995e+199"/>
              </a:srgbClr>
            </a:outerShdw>
          </a:effectLst>
        </p:spPr>
      </p:sp>
      <p:pic>
        <p:nvPicPr>
          <p:cNvPr id="6" name="Image 0" descr="/mnt/data/chaos_f001_descri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5378" y="1371600"/>
            <a:ext cx="4242348" cy="3886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58200" y="1115568"/>
            <a:ext cx="2834640" cy="4526280"/>
          </a:xfrm>
          <a:prstGeom prst="roundRect">
            <a:avLst>
              <a:gd name="adj" fmla="val 4194"/>
            </a:avLst>
          </a:prstGeom>
          <a:solidFill>
            <a:srgbClr val="FFFDF8"/>
          </a:solidFill>
          <a:ln w="12700">
            <a:solidFill>
              <a:srgbClr val="FAD7A0"/>
            </a:solidFill>
            <a:prstDash val="solid"/>
          </a:ln>
          <a:effectLst>
            <a:outerShdw sx="100000" sy="100000" kx="0" ky="0" algn="bl" rotWithShape="0" blurRad="2.1633849555398564e+168" dist="7.211283185132856e+168" dir="3.6092235254878095e+197">
              <a:srgbClr val="C6DDD4">
                <a:alpha val="2.2999999999999996e+204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0" y="1417320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记录内容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0" y="184708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实验编号</a:t>
            </a:r>
            <a:endParaRPr lang="en-US" sz="940" dirty="0"/>
          </a:p>
        </p:txBody>
      </p:sp>
      <p:sp>
        <p:nvSpPr>
          <p:cNvPr id="10" name="Text 7"/>
          <p:cNvSpPr/>
          <p:nvPr/>
        </p:nvSpPr>
        <p:spPr>
          <a:xfrm>
            <a:off x="8686800" y="22402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目标服务</a:t>
            </a:r>
            <a:endParaRPr lang="en-US" sz="940" dirty="0"/>
          </a:p>
        </p:txBody>
      </p:sp>
      <p:sp>
        <p:nvSpPr>
          <p:cNvPr id="11" name="Text 8"/>
          <p:cNvSpPr/>
          <p:nvPr/>
        </p:nvSpPr>
        <p:spPr>
          <a:xfrm>
            <a:off x="8686800" y="26334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故障类型</a:t>
            </a:r>
            <a:endParaRPr lang="en-US" sz="940" dirty="0"/>
          </a:p>
        </p:txBody>
      </p:sp>
      <p:sp>
        <p:nvSpPr>
          <p:cNvPr id="12" name="Text 9"/>
          <p:cNvSpPr/>
          <p:nvPr/>
        </p:nvSpPr>
        <p:spPr>
          <a:xfrm>
            <a:off x="8686800" y="302666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开始与结束时间</a:t>
            </a:r>
            <a:endParaRPr lang="en-US" sz="940" dirty="0"/>
          </a:p>
        </p:txBody>
      </p:sp>
      <p:sp>
        <p:nvSpPr>
          <p:cNvPr id="13" name="Text 10"/>
          <p:cNvSpPr/>
          <p:nvPr/>
        </p:nvSpPr>
        <p:spPr>
          <a:xfrm>
            <a:off x="8686800" y="341985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Prometheus 查询窗口</a:t>
            </a:r>
            <a:endParaRPr lang="en-US" sz="940" dirty="0"/>
          </a:p>
        </p:txBody>
      </p:sp>
      <p:sp>
        <p:nvSpPr>
          <p:cNvPr id="14" name="Text 11"/>
          <p:cNvSpPr/>
          <p:nvPr/>
        </p:nvSpPr>
        <p:spPr>
          <a:xfrm>
            <a:off x="8686800" y="38130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Grafana 对比截图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8732520" y="4736592"/>
            <a:ext cx="1965960" cy="502920"/>
          </a:xfrm>
          <a:prstGeom prst="roundRect">
            <a:avLst>
              <a:gd name="adj" fmla="val 21818"/>
            </a:avLst>
          </a:prstGeom>
          <a:solidFill>
            <a:srgbClr val="FFFFFF">
              <a:alpha val="45000"/>
            </a:srgbClr>
          </a:solidFill>
          <a:ln w="15240">
            <a:solidFill>
              <a:srgbClr val="B7DCC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69680" y="480517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8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待补充：最终故障对比截图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CEF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github.com/Affordan/online-boutique-testing-maintenance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A977"/>
          </a:solidFill>
          <a:ln w="12700">
            <a:solidFill>
              <a:srgbClr val="11A9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FUNCTION TESTING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Selenium 功能测试展示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124712"/>
            <a:ext cx="3429000" cy="4526280"/>
          </a:xfrm>
          <a:prstGeom prst="roundRect">
            <a:avLst>
              <a:gd name="adj" fmla="val 3467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2.7474988935356176e+172" dist="9.158329645118728e+172" dir="2.1655341152926858e+202">
              <a:srgbClr val="C6DDD4">
                <a:alpha val="2.2999999999999997e+20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覆盖内容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首页访问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914400" y="21762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商品浏览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914400" y="252374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加入购物车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914400" y="287121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结算页面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914400" y="321868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优惠券输入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库存状态验证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914400" y="39136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异常场景提示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407408" y="1124712"/>
            <a:ext cx="3337560" cy="4526280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3.489323594790234e+176" dist="1.1631078649300784e+177" dir="1.2993204691756116e+207">
              <a:srgbClr val="C6DDD4">
                <a:alpha val="2.3e+214"/>
              </a:srgbClr>
            </a:outerShdw>
          </a:effectLst>
        </p:spPr>
      </p:sp>
      <p:pic>
        <p:nvPicPr>
          <p:cNvPr id="15" name="Image 0" descr="/mnt/data/selenium_check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2287569"/>
            <a:ext cx="2926080" cy="169764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754880" y="5120640"/>
            <a:ext cx="2560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结算交互截图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092440" y="1124712"/>
            <a:ext cx="3200400" cy="4526280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4.431440965383597e+180" dist="1.4771469884611996e+181" dir="7.795922815053669e+211">
              <a:srgbClr val="C6DDD4">
                <a:alpha val="2.2999999999999998e+219"/>
              </a:srgbClr>
            </a:outerShdw>
          </a:effectLst>
        </p:spPr>
      </p:sp>
      <p:pic>
        <p:nvPicPr>
          <p:cNvPr id="18" name="Image 1" descr="/mnt/data/selenium_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314095"/>
            <a:ext cx="2834640" cy="164459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412480" y="5120640"/>
            <a:ext cx="2560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测试执行结果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CEFE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github.com/Affordan/online-boutique-testing-maintenance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A977"/>
          </a:solidFill>
          <a:ln w="12700">
            <a:solidFill>
              <a:srgbClr val="11A9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PERFORMANCE TESTING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JMeter 性能测试展示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097280"/>
            <a:ext cx="2926080" cy="4617720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5.627930026037168e+184" dist="1.8759766753457235e+185" dir="4.677553689032201e+216">
              <a:srgbClr val="C6DDD4">
                <a:alpha val="2.2999999999999998e+22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89888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压测设置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并发用户：10 / 30 / 50 / 100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请求目标：核心页面与接口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指标：响应时间、吞吐量、错误率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333756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输出：CSV 与 HTML 报告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14400" y="4434840"/>
            <a:ext cx="2148840" cy="548640"/>
          </a:xfrm>
          <a:prstGeom prst="roundRect">
            <a:avLst>
              <a:gd name="adj" fmla="val 20000"/>
            </a:avLst>
          </a:prstGeom>
          <a:solidFill>
            <a:srgbClr val="FFFFFF">
              <a:alpha val="45000"/>
            </a:srgbClr>
          </a:solidFill>
          <a:ln w="15240">
            <a:solidFill>
              <a:srgbClr val="B7DC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526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8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待补充：最终汇总表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86200" y="1097280"/>
            <a:ext cx="3657600" cy="4617720"/>
          </a:xfrm>
          <a:prstGeom prst="roundRect">
            <a:avLst>
              <a:gd name="adj" fmla="val 3250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7.147471133067203e+188" dist="2.382490377689069e+189" dir="2.806532213419321e+221">
              <a:srgbClr val="C6DDD4">
                <a:alpha val="2.2999999999999997e+229"/>
              </a:srgbClr>
            </a:outerShdw>
          </a:effectLst>
        </p:spPr>
      </p:sp>
      <p:pic>
        <p:nvPicPr>
          <p:cNvPr id="14" name="Image 0" descr="/mnt/data/jmeter_response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6512" y="2515526"/>
            <a:ext cx="3246120" cy="141546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343400" y="5166360"/>
            <a:ext cx="27432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响应时间结果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818120" y="1097280"/>
            <a:ext cx="3657600" cy="4617720"/>
          </a:xfrm>
          <a:prstGeom prst="roundRect">
            <a:avLst>
              <a:gd name="adj" fmla="val 3250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9.077288338995348e+192" dist="3.0257627796651175e+193" dir="1.6839193280515925e+226">
              <a:srgbClr val="C6DDD4">
                <a:alpha val="2.2999999999999997e+234"/>
              </a:srgbClr>
            </a:outerShdw>
          </a:effectLst>
        </p:spPr>
      </p:sp>
      <p:pic>
        <p:nvPicPr>
          <p:cNvPr id="17" name="Image 1" descr="/mnt/data/jmeter_throughp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2515526"/>
            <a:ext cx="3246120" cy="141546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275320" y="5166360"/>
            <a:ext cx="27432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吞吐量结果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CEFE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github.com/Affordan/online-boutique-testing-maintenance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A977"/>
          </a:solidFill>
          <a:ln w="12700">
            <a:solidFill>
              <a:srgbClr val="11A9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ANOMALY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异常数据与算法复现展示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115568"/>
            <a:ext cx="3246120" cy="448056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1.1528156190524093e+197" dist="3.8427187301746993e+197" dir="1.0103515968309554e+231">
              <a:srgbClr val="C6DDD4">
                <a:alpha val="2.2999999999999997e+23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输入数据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正常 / 故障监控数据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914400" y="23042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服务名、时间戳、故障标签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914400" y="27797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延迟、错误率、CPU、内存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914400" y="32552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故障类型与注入窗口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251960" y="1115568"/>
            <a:ext cx="3246120" cy="448056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1.4640758361965598e+201" dist="4.880252787321868e+201" dir="6.062109580985733e+235">
              <a:srgbClr val="C6DDD4">
                <a:alpha val="2.2999999999999996e+244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候选算法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26280" y="1828800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ECFFF5"/>
          </a:solidFill>
          <a:ln w="10160">
            <a:solidFill>
              <a:srgbClr val="0E66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897380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Isolation Forest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26280" y="2286000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ECFFF5"/>
          </a:solidFill>
          <a:ln w="10160">
            <a:solidFill>
              <a:srgbClr val="11A9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2354580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 重构误差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26280" y="2743200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ECFFF5"/>
          </a:solidFill>
          <a:ln w="10160">
            <a:solidFill>
              <a:srgbClr val="0E66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2811780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One-Class SVM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26280" y="3200400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ECFFF5"/>
          </a:solidFill>
          <a:ln w="10160">
            <a:solidFill>
              <a:srgbClr val="11A9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3268980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LSTM AutoEncoder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26280" y="3657600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ECFFF5"/>
          </a:solidFill>
          <a:ln w="10160">
            <a:solidFill>
              <a:srgbClr val="0E66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3726180"/>
            <a:ext cx="1545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阈值基线方法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845552" y="1115568"/>
            <a:ext cx="3429000" cy="4480560"/>
          </a:xfrm>
          <a:prstGeom prst="roundRect">
            <a:avLst>
              <a:gd name="adj" fmla="val 3467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1.859376311969631e+205" dist="6.197921039898773e+205" dir="3.63726574859144e+240">
              <a:srgbClr val="C6DDD4">
                <a:alpha val="2.3e+249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19872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输出内容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75320" y="201168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FFFFFF">
              <a:alpha val="45000"/>
            </a:srgbClr>
          </a:solidFill>
          <a:ln w="15240">
            <a:solidFill>
              <a:srgbClr val="B7DCC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22860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8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待补充：算法结果图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75320" y="3246120"/>
            <a:ext cx="2331720" cy="777240"/>
          </a:xfrm>
          <a:prstGeom prst="roundRect">
            <a:avLst>
              <a:gd name="adj" fmla="val 14118"/>
            </a:avLst>
          </a:prstGeom>
          <a:solidFill>
            <a:srgbClr val="FFFFFF">
              <a:alpha val="45000"/>
            </a:srgbClr>
          </a:solidFill>
          <a:ln w="15240">
            <a:solidFill>
              <a:srgbClr val="B7DCC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34518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8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待补充：指标表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19872" y="4343400"/>
            <a:ext cx="26060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建议放入 ROC/PR、混淆矩阵、异常分数时序图或故障定位准确率。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CEF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github.com/Affordan/online-boutique-testing-maintenance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A977"/>
          </a:solidFill>
          <a:ln w="12700">
            <a:solidFill>
              <a:srgbClr val="11A9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AIOPS AGENT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智能运维 Agent 总体设计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051560"/>
            <a:ext cx="7452360" cy="4892040"/>
          </a:xfrm>
          <a:prstGeom prst="roundRect">
            <a:avLst>
              <a:gd name="adj" fmla="val 2430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2.3614079162014313e+209" dist="7.871359720671441e+209" dir="2.182359449154864e+245">
              <a:srgbClr val="C6DDD4">
                <a:alpha val="2.2999999999999997e+254"/>
              </a:srgbClr>
            </a:outerShdw>
          </a:effectLst>
        </p:spPr>
      </p:sp>
      <p:pic>
        <p:nvPicPr>
          <p:cNvPr id="6" name="Image 0" descr="/mnt/data/agent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97992"/>
            <a:ext cx="7040880" cy="396260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366760" y="1051560"/>
            <a:ext cx="2880360" cy="4892040"/>
          </a:xfrm>
          <a:prstGeom prst="roundRect">
            <a:avLst>
              <a:gd name="adj" fmla="val 4127"/>
            </a:avLst>
          </a:prstGeom>
          <a:solidFill>
            <a:srgbClr val="F8FFFC"/>
          </a:solidFill>
          <a:ln w="12700">
            <a:solidFill>
              <a:srgbClr val="BFEEDB"/>
            </a:solidFill>
            <a:prstDash val="solid"/>
          </a:ln>
          <a:effectLst>
            <a:outerShdw sx="100000" sy="100000" kx="0" ky="0" algn="bl" rotWithShape="0" blurRad="2.998988053575818e+213" dist="9.996626845252731e+213" dir="1.3094156694929184e+250">
              <a:srgbClr val="C6DDD4">
                <a:alpha val="2.2999999999999998e+259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13648" y="1371600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能力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13648" y="17830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读取 Prometheus 数据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613648" y="219456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识别异常时间窗口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613648" y="260604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匹配 ChaosMesh 记录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613648" y="301752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分析服务影响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613648" y="342900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输出根因分类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613648" y="38404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给出恢复建议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CEF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github.com/Affordan/online-boutique-testing-maintenance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A977"/>
          </a:solidFill>
          <a:ln w="12700">
            <a:solidFill>
              <a:srgbClr val="11A9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LOOP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智能运维闭环演示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051560"/>
            <a:ext cx="5257800" cy="4892040"/>
          </a:xfrm>
          <a:prstGeom prst="roundRect">
            <a:avLst>
              <a:gd name="adj" fmla="val 2430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3.808714828041289e+217" dist="1.2695716093470969e+218" dir="7.85649401695751e+254">
              <a:srgbClr val="C6DDD4">
                <a:alpha val="2.2999999999999997e+264"/>
              </a:srgbClr>
            </a:outerShdw>
          </a:effectLst>
        </p:spPr>
      </p:sp>
      <p:pic>
        <p:nvPicPr>
          <p:cNvPr id="6" name="Image 0" descr="/mnt/data/agent_closed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60676"/>
            <a:ext cx="4846320" cy="2727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5532120"/>
            <a:ext cx="4389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监控—检测—诊断—建议—恢复—再监控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63640" y="1051560"/>
            <a:ext cx="5257800" cy="4892040"/>
          </a:xfrm>
          <a:prstGeom prst="roundRect">
            <a:avLst>
              <a:gd name="adj" fmla="val 2430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4.8370678316124365e+221" dist="1.612355943870813e+222" dir="4.713896410174506e+259">
              <a:srgbClr val="C6DDD4">
                <a:alpha val="2.2999999999999998e+269"/>
              </a:srgbClr>
            </a:outerShdw>
          </a:effectLst>
        </p:spPr>
      </p:sp>
      <p:pic>
        <p:nvPicPr>
          <p:cNvPr id="9" name="Image 1" descr="/mnt/data/agent_analysis_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2060676"/>
            <a:ext cx="4846320" cy="27275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0" y="5532120"/>
            <a:ext cx="43891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异常分析与根因分类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CEFE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github.com/Affordan/online-boutique-testing-maintenance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A977"/>
          </a:solidFill>
          <a:ln w="12700">
            <a:solidFill>
              <a:srgbClr val="11A9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DIAGNOSIS REPORT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诊断结果样例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051560"/>
            <a:ext cx="7498080" cy="4892040"/>
          </a:xfrm>
          <a:prstGeom prst="roundRect">
            <a:avLst>
              <a:gd name="adj" fmla="val 2430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6.143076146147795e+225" dist="2.0476920487159326e+226" dir="2.8283378461047036e+264">
              <a:srgbClr val="C6DDD4">
                <a:alpha val="2.2999999999999996e+274"/>
              </a:srgbClr>
            </a:outerShdw>
          </a:effectLst>
        </p:spPr>
      </p:sp>
      <p:pic>
        <p:nvPicPr>
          <p:cNvPr id="6" name="Image 0" descr="/mnt/data/agent_diagnosis_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85126"/>
            <a:ext cx="7086600" cy="39883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58200" y="1051560"/>
            <a:ext cx="2834640" cy="4892040"/>
          </a:xfrm>
          <a:prstGeom prst="roundRect">
            <a:avLst>
              <a:gd name="adj" fmla="val 4194"/>
            </a:avLst>
          </a:prstGeom>
          <a:solidFill>
            <a:srgbClr val="FFFDF8"/>
          </a:solidFill>
          <a:ln w="12700">
            <a:solidFill>
              <a:srgbClr val="FAD7A0"/>
            </a:solidFill>
            <a:prstDash val="solid"/>
          </a:ln>
          <a:effectLst>
            <a:outerShdw sx="100000" sy="100000" kx="0" ky="0" algn="bl" rotWithShape="0" blurRad="7.8017067056077e+229" dist="2.6005689018692344e+230" dir="1.6970027076628222e+269">
              <a:srgbClr val="C6DDD4">
                <a:alpha val="2.2999999999999995e+279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0" y="1371600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报告字段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0" y="181051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异常窗口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686800" y="22037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影响服务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686800" y="259689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故障类型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686800" y="29900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严重程度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686800" y="33832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诊断证据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686800" y="37764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建议动作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732520" y="470916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FFFFFF">
              <a:alpha val="45000"/>
            </a:srgbClr>
          </a:solidFill>
          <a:ln w="15240">
            <a:solidFill>
              <a:srgbClr val="B7DCC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69680" y="47777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8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待补充：真实运行日志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CEF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github.com/Affordan/online-boutique-testing-maintenance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A977"/>
          </a:solidFill>
          <a:ln w="12700">
            <a:solidFill>
              <a:srgbClr val="11A9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CONTRIBUTION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小组分工与交付物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1097280"/>
            <a:ext cx="10881360" cy="4892040"/>
          </a:xfrm>
          <a:prstGeom prst="roundRect">
            <a:avLst>
              <a:gd name="adj" fmla="val 2430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9.908167516121778e+233" dist="3.3027225053739275e+234" dir="1.0182016245976934e+274">
              <a:srgbClr val="C6DDD4">
                <a:alpha val="2.2999999999999995e+284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3898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93392" y="13898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负责内容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26280" y="138988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主要产出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55480" y="1389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" y="1719072"/>
            <a:ext cx="10012680" cy="0"/>
          </a:xfrm>
          <a:prstGeom prst="line">
            <a:avLst/>
          </a:prstGeom>
          <a:noFill/>
          <a:ln w="15240">
            <a:solidFill>
              <a:srgbClr val="BFEE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777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王秀强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93392" y="1947672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队长 / 部署 / 总集成 / Agent 设计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26280" y="1947672"/>
            <a:ext cx="4434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项目组织、答辩材料、智能运维图与 Agent 展示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555480" y="1947672"/>
            <a:ext cx="914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68680" y="2295144"/>
            <a:ext cx="10012680" cy="0"/>
          </a:xfrm>
          <a:prstGeom prst="line">
            <a:avLst/>
          </a:prstGeom>
          <a:noFill/>
          <a:ln w="10160">
            <a:solidFill>
              <a:srgbClr val="EDF7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523744"/>
            <a:ext cx="777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邓锦尧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93392" y="2523744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新增微服务开发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26280" y="2523744"/>
            <a:ext cx="4434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coupon-service、inventory-service、服务接入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555480" y="2523744"/>
            <a:ext cx="914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68680" y="2871216"/>
            <a:ext cx="10012680" cy="0"/>
          </a:xfrm>
          <a:prstGeom prst="line">
            <a:avLst/>
          </a:prstGeom>
          <a:noFill/>
          <a:ln w="10160">
            <a:solidFill>
              <a:srgbClr val="EDF7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099816"/>
            <a:ext cx="777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邱俊杰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93392" y="3099816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监控与数据采集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26280" y="3099816"/>
            <a:ext cx="4434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Prometheus、Grafana、监控 CSV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555480" y="3099816"/>
            <a:ext cx="914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68680" y="3447288"/>
            <a:ext cx="10012680" cy="0"/>
          </a:xfrm>
          <a:prstGeom prst="line">
            <a:avLst/>
          </a:prstGeom>
          <a:noFill/>
          <a:ln w="10160">
            <a:solidFill>
              <a:srgbClr val="EDF7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675888"/>
            <a:ext cx="777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段坤良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993392" y="367588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故障注入实验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26280" y="3675888"/>
            <a:ext cx="4434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ChaosMesh 配置、故障记录与截图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555480" y="3675888"/>
            <a:ext cx="914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68680" y="4023360"/>
            <a:ext cx="10012680" cy="0"/>
          </a:xfrm>
          <a:prstGeom prst="line">
            <a:avLst/>
          </a:prstGeom>
          <a:noFill/>
          <a:ln w="10160">
            <a:solidFill>
              <a:srgbClr val="EDF7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251960"/>
            <a:ext cx="777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韦厚林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993392" y="4251960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26280" y="4251960"/>
            <a:ext cx="4434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Selenium、JMeter、测试结果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555480" y="4251960"/>
            <a:ext cx="914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68680" y="4599432"/>
            <a:ext cx="10012680" cy="0"/>
          </a:xfrm>
          <a:prstGeom prst="line">
            <a:avLst/>
          </a:prstGeom>
          <a:noFill/>
          <a:ln w="10160">
            <a:solidFill>
              <a:srgbClr val="EDF7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4828032"/>
            <a:ext cx="777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任泓旭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993392" y="4828032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异常数据与算法复现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26280" y="4828032"/>
            <a:ext cx="4434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数据预处理、异常检测算法、评估图表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555480" y="4828032"/>
            <a:ext cx="914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待完善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CEF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github.com/Affordan/online-boutique-testing-maintenance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1A977"/>
          </a:solidFill>
          <a:ln w="12700">
            <a:solidFill>
              <a:srgbClr val="11A97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结论与答辩重点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49808" y="1143000"/>
            <a:ext cx="3246120" cy="4526280"/>
          </a:xfrm>
          <a:prstGeom prst="roundRect">
            <a:avLst>
              <a:gd name="adj" fmla="val 3662"/>
            </a:avLst>
          </a:prstGeom>
          <a:solidFill>
            <a:srgbClr val="ECFFF5"/>
          </a:solidFill>
          <a:ln w="12700">
            <a:solidFill>
              <a:srgbClr val="BFEEDB"/>
            </a:solidFill>
            <a:prstDash val="solid"/>
          </a:ln>
          <a:effectLst>
            <a:outerShdw sx="100000" sy="100000" kx="0" ky="0" algn="bl" rotWithShape="0" blurRad="1.2583372745474658e+238" dist="4.194457581824888e+238" dir="6.10920974758616e+278">
              <a:srgbClr val="C6DDD4">
                <a:alpha val="2.2999999999999994e+289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E66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已完成内容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184708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Online-Boutique 本地部署</a:t>
            </a:r>
            <a:endParaRPr lang="en-US" sz="98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新增两个微服务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1005840" y="263347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监控采集与数据导出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1005840" y="302666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ChaosMesh 故障实验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1005840" y="3419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Selenium / JMeter 测试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1005840" y="381304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Agent 概念与样例展示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4462272" y="1143000"/>
            <a:ext cx="3246120" cy="452628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 w="12700">
            <a:solidFill>
              <a:srgbClr val="D8EFE4"/>
            </a:solidFill>
            <a:prstDash val="solid"/>
          </a:ln>
          <a:effectLst>
            <a:outerShdw sx="100000" sy="100000" kx="0" ky="0" algn="bl" rotWithShape="0" blurRad="1.5980883386752816e+242" dist="5.326961128917608e+242" dir="3.6655258485516963e+283">
              <a:srgbClr val="C6DDD4">
                <a:alpha val="2.2999999999999994e+29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18304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A2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答辩重点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18304" y="184708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说明为何选择 Online-Boutique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718304" y="230428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强调第三档：微服务开发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718304" y="276148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展示监控数据与故障窗口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718304" y="321868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用测试结果证明稳定性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718304" y="367588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 Agent 体现加分项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8183880" y="1143000"/>
            <a:ext cx="3063240" cy="4526280"/>
          </a:xfrm>
          <a:prstGeom prst="roundRect">
            <a:avLst>
              <a:gd name="adj" fmla="val 3881"/>
            </a:avLst>
          </a:prstGeom>
          <a:solidFill>
            <a:srgbClr val="FFFDF8"/>
          </a:solidFill>
          <a:ln w="12700">
            <a:solidFill>
              <a:srgbClr val="FAD7A0"/>
            </a:solidFill>
            <a:prstDash val="solid"/>
          </a:ln>
          <a:effectLst>
            <a:outerShdw sx="100000" sy="100000" kx="0" ky="0" algn="bl" rotWithShape="0" blurRad="2.0295721901176076e+246" dist="6.765240633725363e+246" dir="2.1993155091310177e+288">
              <a:srgbClr val="C6DDD4">
                <a:alpha val="2.2999999999999993e+299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30768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需现场替换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30768" y="184708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算法最终指标图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8430768" y="230428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最终报告 PDF 截图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8430768" y="276148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成员互评表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8430768" y="321868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答辩 Q&amp;A 记录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749808" y="5669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CEF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10528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github.com/Affordan/online-boutique-testing-maintenance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1A9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Nankai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Online-Boutique 微服务测试与维护大作业</dc:title>
  <dc:subject>软件测试与维护大作业展示</dc:subject>
  <dc:creator>OpenAI</dc:creator>
  <cp:lastModifiedBy>OpenAI</cp:lastModifiedBy>
  <cp:revision>1</cp:revision>
  <dcterms:created xsi:type="dcterms:W3CDTF">2026-06-09T13:29:03Z</dcterms:created>
  <dcterms:modified xsi:type="dcterms:W3CDTF">2026-06-09T13:29:03Z</dcterms:modified>
</cp:coreProperties>
</file>